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2560320"/>
            <a:ext cx="210312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브로커들이 먼저 제안하는</a:t>
            </a:r>
            <a:br/>
            <a:r>
              <a:t>새로운 모기지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5E2DC"/>
                </a:solidFill>
                <a:latin typeface="Calibri"/>
              </a:defRPr>
            </a:pPr>
            <a:r>
              <a:t>캐나다 최초 프라이버시 중심 모기지 마켓플레이스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6035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Confidential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9728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모기지 브로커 탐색의 문제점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D4A853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9"/>
                </a:solidFill>
                <a:latin typeface="Calibri"/>
              </a:defRPr>
            </a:pPr>
            <a:r>
              <a:t>신청인은 정보가 없다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24231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모기지 브로커를 찾으려면 은행에 전화하거나, 지인 소개에 의존하거나, 광고를 믿어야 합니다.</a:t>
            </a:r>
            <a:br/>
            <a:r>
              <a:t>투명한 비교 수단이 없습니다.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D4A853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9"/>
                </a:solidFill>
                <a:latin typeface="Calibri"/>
              </a:defRPr>
            </a:pPr>
            <a:r>
              <a:t>브로커는 비효율적 영업에 의존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38862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라이선스를 가진 전문 브로커들이 고객 확보를 위해 과도한 시간과 비용을</a:t>
            </a:r>
            <a:br/>
            <a:r>
              <a:t>광고와 콜드콜에 투자하고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1">
                <a:solidFill>
                  <a:srgbClr val="D4A853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4937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9"/>
                </a:solidFill>
                <a:latin typeface="Calibri"/>
              </a:defRPr>
            </a:pPr>
            <a:r>
              <a:t>개인정보가 노출된다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534924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브로커가 적합한지 알기도 전에 개인 금융 정보를 먼저 공유해야 합니다.</a:t>
            </a:r>
            <a:br/>
            <a:r>
              <a:t>프라이버시가 보장되지 않습니다.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914400"/>
            <a:ext cx="128016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mortly 소개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56032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5E2DC"/>
                </a:solidFill>
                <a:latin typeface="Calibri"/>
              </a:defRPr>
            </a:pPr>
            <a:r>
              <a:t>신청인이 익명으로 모기지 요청을 게시하면,</a:t>
            </a:r>
            <a:br/>
            <a:r>
              <a:t>인증된 브로커들이 경쟁적으로 제안하는 역방향 마켓플레이스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3657600"/>
            <a:ext cx="301752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560320" y="4114800"/>
            <a:ext cx="2011680" cy="82296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익명성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0" y="4114800"/>
            <a:ext cx="2011680" cy="82296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경쟁 구도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80960" y="4114800"/>
            <a:ext cx="2011680" cy="82296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42519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인증된 브로커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463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간단한 3단계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576285"/>
                </a:solidFill>
                <a:latin typeface="Calibri"/>
              </a:defRPr>
            </a:pPr>
            <a:r>
              <a:t>모기지 브로커를 찾는 새로운 방법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560320"/>
            <a:ext cx="31089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103120" y="2834640"/>
            <a:ext cx="640080" cy="64008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요청서 제출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206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나의 모기지 조건을 익명으로</a:t>
            </a:r>
            <a:br/>
            <a:r>
              <a:t>게시합니다. 개인정보 없이</a:t>
            </a:r>
            <a:br/>
            <a:r>
              <a:t>대출 금액, 부동산 유형, 타임라인</a:t>
            </a:r>
            <a:br/>
            <a:r>
              <a:t>등을 공유합니다.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4114800"/>
            <a:ext cx="36576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72000" y="2560320"/>
            <a:ext cx="31089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2834640"/>
            <a:ext cx="640080" cy="64008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브로커 비교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206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인증된 브로커들이 요청을 검토하고</a:t>
            </a:r>
            <a:br/>
            <a:r>
              <a:t>소개를 보냅니다. 프로필, 리뷰,</a:t>
            </a:r>
            <a:br/>
            <a:r>
              <a:t>전문 분야를 나란히 비교합니다.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7772400" y="4114800"/>
            <a:ext cx="36576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0" y="2560320"/>
            <a:ext cx="31089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418320" y="2834640"/>
            <a:ext cx="640080" cy="640080"/>
          </a:xfrm>
          <a:prstGeom prst="ellipse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나의 조건에 맞게 연결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4206240"/>
            <a:ext cx="2560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적합한 브로커를 찾으면 연결합니다.</a:t>
            </a:r>
            <a:br/>
            <a:r>
              <a:t>내 신원은 내가 공개하기로</a:t>
            </a:r>
            <a:br/>
            <a:r>
              <a:t>결정할 때까지 비공개입니다.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64592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BORROWER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신청인 여정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회원가입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14600" y="2377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834640" y="1828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8036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이메일 인증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00600" y="2377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120640" y="1828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6636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카테고리 선택</a:t>
            </a:r>
            <a:br/>
            <a:r>
              <a:t>(주거용 / 상업용)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086600" y="2377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06640" y="1828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5236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9808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요청서 작성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9372600" y="2377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0" y="1828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73836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2286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요청 공개 (익명)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10515600" y="3337560"/>
            <a:ext cx="228600" cy="640080"/>
          </a:xfrm>
          <a:prstGeom prst="down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48640" y="4114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9436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72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브로커 소개 수신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2514600" y="4663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34640" y="4114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88036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926080" y="4572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브로커 비교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4800600" y="4663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5120640" y="4114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516636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80" y="4572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선택 및 채팅</a:t>
            </a:r>
          </a:p>
        </p:txBody>
      </p:sp>
      <p:sp>
        <p:nvSpPr>
          <p:cNvPr id="35" name="Right Arrow 34"/>
          <p:cNvSpPr/>
          <p:nvPr/>
        </p:nvSpPr>
        <p:spPr>
          <a:xfrm>
            <a:off x="7086600" y="466344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406640" y="4114800"/>
            <a:ext cx="192024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45236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0" y="4572000"/>
            <a:ext cx="1737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평가 &amp; 리뷰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BROKER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브로커 여정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회원가입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063240" y="2377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828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2044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286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온보딩</a:t>
            </a:r>
            <a:br/>
            <a:r>
              <a:t>(프로필 작성)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806440" y="2377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1828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286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관리자 인증</a:t>
            </a:r>
            <a:br/>
            <a:r>
              <a:t>대기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549640" y="2377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961120" y="1828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006840" y="1920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2286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요청 열람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9966960" y="3337560"/>
            <a:ext cx="228600" cy="640080"/>
          </a:xfrm>
          <a:prstGeom prst="down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1520" y="4114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소개 전송</a:t>
            </a:r>
            <a:br/>
            <a:r>
              <a:t>(크레딧 1건 차감)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3063240" y="4663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474720" y="4114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2044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66160" y="4572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신청인 선택</a:t>
            </a:r>
            <a:br/>
            <a:r>
              <a:t>대기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806440" y="4663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217920" y="4114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26364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60" y="4572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채팅 시작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8549640" y="4663440"/>
            <a:ext cx="32004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961120" y="4114800"/>
            <a:ext cx="2286000" cy="14630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06840" y="4206240"/>
            <a:ext cx="320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100" b="1">
                <a:solidFill>
                  <a:srgbClr val="0F1729"/>
                </a:solidFill>
                <a:latin typeface="Calibri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572000"/>
            <a:ext cx="2103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평가 수신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37160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ADMIN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관리자 운영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대시보드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전체 현황 모니터링</a:t>
            </a:r>
            <a:br/>
            <a:r>
              <a:t>사용자, 요청, 대화 통계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828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브로커 인증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160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라이선스 확인 후</a:t>
            </a:r>
            <a:br/>
            <a:r>
              <a:t>승인 또는 거절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828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요청 승인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모기지 상담 요청</a:t>
            </a:r>
            <a:br/>
            <a:r>
              <a:t>검토 및 승인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1828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011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대화 감독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468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활성 대화 모니터링</a:t>
            </a:r>
            <a:br/>
            <a:r>
              <a:t>부적절한 대화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신고 관리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사용자 신고 접수</a:t>
            </a:r>
            <a:br/>
            <a:r>
              <a:t>조사 및 조치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4114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크레딧 관리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4754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브로커 크레딧</a:t>
            </a:r>
            <a:br/>
            <a:r>
              <a:t>수동 조정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4114800"/>
            <a:ext cx="2468880" cy="16459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29768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시스템 설정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2103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플랫폼 설정</a:t>
            </a:r>
            <a:br/>
            <a:r>
              <a:t>유지보수 모드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6217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1">
                <a:solidFill>
                  <a:srgbClr val="A8812E"/>
                </a:solidFill>
                <a:latin typeface="Calibri"/>
              </a:defRPr>
            </a:pPr>
            <a:r>
              <a:t>※ 모든 관리자 행동은 감사 추적(Audit Trail)으로 기록됩니다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91440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mortly 플랫폼 경험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E5E2DC"/>
                </a:solidFill>
                <a:latin typeface="Calibri"/>
              </a:defRPr>
            </a:pPr>
            <a:r>
              <a:t>모던하고 직관적인 사용자 인터페이스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560320"/>
            <a:ext cx="3200400" cy="329184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576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872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[ 홈페이지 스크린샷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2560320"/>
            <a:ext cx="3200400" cy="329184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576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[ 요청서 작성 스크린샷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560320"/>
            <a:ext cx="3200400" cy="329184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57628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21040" y="39319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[ 브로커 비교 스크린샷 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73736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DIFFERENTIATORS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mortly가 다른 이유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F1729"/>
                </a:solidFill>
                <a:latin typeface="Calibri"/>
              </a:defRPr>
            </a:pPr>
            <a:r>
              <a:t>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프라이버시 중심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6060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신청인의 신원은 본인이 공개를 결정할 때까지 완전히 숨겨집니다. 정확한 금액 대신 범위로 입력하여 프라이버시를 보호합니다.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828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F1729"/>
                </a:solidFill>
                <a:latin typeface="Calibri"/>
              </a:defRPr>
            </a:pPr>
            <a:r>
              <a:t>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103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역방향 마켓플레이스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기존 방식과 반대로, 브로커가 먼저 신청인에게 제안합니다. 소비자에게 선택권이 있는 구조입니다.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F1729"/>
                </a:solidFill>
                <a:latin typeface="Calibri"/>
              </a:defRPr>
            </a:pPr>
            <a:r>
              <a:t>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한영 이중 언어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8920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한국어와 영어를 완벽하게 지원합니다. 캐나다 한인 커뮤니티를 위한 맞춤형 서비스입니다.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4114800"/>
            <a:ext cx="502920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60"/>
              </a:lnSpc>
              <a:spcAft>
                <a:spcPts val="0"/>
              </a:spcAft>
              <a:defRPr sz="2800" b="0">
                <a:solidFill>
                  <a:srgbClr val="0F1729"/>
                </a:solidFill>
                <a:latin typeface="Calibri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0" y="43891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인증된 브로커만 참여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489204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300" b="0">
                <a:solidFill>
                  <a:srgbClr val="576285"/>
                </a:solidFill>
                <a:latin typeface="Calibri"/>
              </a:defRPr>
            </a:pPr>
            <a:r>
              <a:t>모든 브로커는 관리자가 라이선스를 직접 확인합니다. 미인증 브로커는 요청을 볼 수 없습니다.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548640"/>
            <a:ext cx="109728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시장 기회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560320"/>
            <a:ext cx="2011680" cy="256032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6C96E"/>
                </a:solidFill>
                <a:latin typeface="Calibri"/>
              </a:defRPr>
            </a:pPr>
            <a:r>
              <a:t>~$2조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캐나다 모기지 시장 규모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2560320"/>
            <a:ext cx="2011680" cy="256032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34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6C96E"/>
                </a:solidFill>
                <a:latin typeface="Calibri"/>
              </a:defRPr>
            </a:pPr>
            <a:r>
              <a:t>~15,000명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464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라이선스 보유 모기지 브로커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2560320"/>
            <a:ext cx="2011680" cy="256032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20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6C96E"/>
                </a:solidFill>
                <a:latin typeface="Calibri"/>
              </a:defRPr>
            </a:pPr>
            <a:r>
              <a:t>35%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브로커 경유 모기지 비율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2560320"/>
            <a:ext cx="2011680" cy="256032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6C96E"/>
                </a:solidFill>
                <a:latin typeface="Calibri"/>
              </a:defRPr>
            </a:pPr>
            <a:r>
              <a:t>25만+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재캐나다 한인 인구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2560320"/>
            <a:ext cx="2011680" cy="256032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9264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E6C96E"/>
                </a:solidFill>
                <a:latin typeface="Calibri"/>
              </a:defRPr>
            </a:pPr>
            <a: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84048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역방향 마켓플레이스</a:t>
            </a:r>
            <a:br/>
            <a:r>
              <a:t>직접 경쟁자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타겟 고객층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50292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9"/>
                </a:solidFill>
                <a:latin typeface="Calibri"/>
              </a:defRPr>
            </a:pPr>
            <a:r>
              <a:t>모기지 신청인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2651760"/>
            <a:ext cx="18288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9260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첫 주택 구매자 — 브로커 선택이 막막한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리파이낸싱 — 더 나은 조건을 찾는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한인 커뮤니티 — 이중 언어 서비스가 필요한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프라이버시 중시 — 개인정보 보호를 원하는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상업용 부동산 — 사업 목적 대출이 필요한 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502920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210312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0F1729"/>
                </a:solidFill>
                <a:latin typeface="Calibri"/>
              </a:defRPr>
            </a:pPr>
            <a:r>
              <a:t>모기지 브로커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66560" y="2651760"/>
            <a:ext cx="18288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2926080"/>
            <a:ext cx="4297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개인 브로커 — 효율적 리드 확보가 필요한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성장 중인 중개사 — 디지털 고객 확보를 원하는 곳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한인 시장 전문 — 한인 고객층 특화 브로커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신규 브로커 — 고객 기반을 구축하려는 분</a:t>
            </a:r>
          </a:p>
          <a:p>
            <a:pPr algn="l">
              <a:lnSpc>
                <a:spcPts val="2240"/>
              </a:lnSpc>
              <a:spcAft>
                <a:spcPts val="400"/>
              </a:spcAft>
              <a:defRPr sz="1400" b="0">
                <a:solidFill>
                  <a:srgbClr val="0F1729"/>
                </a:solidFill>
                <a:latin typeface="Calibri"/>
              </a:defRPr>
            </a:pPr>
            <a:r>
              <a:t>• 전문 분야 브로커 — 실력으로 승부하고 싶은 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548640"/>
            <a:ext cx="118872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REVENUE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수익 모델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01168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E5E2DC"/>
                </a:solidFill>
                <a:latin typeface="Calibri"/>
              </a:defRPr>
            </a:pPr>
            <a:r>
              <a:t>신청인은 항상 무료  ·  브로커 SaaS 과금 모델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0" y="2743200"/>
            <a:ext cx="301752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71600" y="3200400"/>
            <a:ext cx="4389120" cy="292608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E6C96E"/>
                </a:solidFill>
                <a:latin typeface="Calibri"/>
              </a:defRPr>
            </a:pPr>
            <a:r>
              <a:t>월 구독료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$29 ~ $129/월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45720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FREE / BASIC / PRO / PREMIUM</a:t>
            </a:r>
            <a:br/>
            <a:r>
              <a:t>4단계 구독 요금제로</a:t>
            </a:r>
            <a:br/>
            <a:r>
              <a:t>지속적인 반복 수익 창출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200400"/>
            <a:ext cx="4389120" cy="292608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347472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E6C96E"/>
                </a:solidFill>
                <a:latin typeface="Calibri"/>
              </a:defRPr>
            </a:pPr>
            <a:r>
              <a:t>크레딧 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402336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$29 ~ $79/팩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572000"/>
            <a:ext cx="3840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9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월 크레딧 소진 시</a:t>
            </a:r>
            <a:br/>
            <a:r>
              <a:t>추가 크레딧 팩 구매 가능</a:t>
            </a:r>
            <a:br/>
            <a:r>
              <a:t>(BASIC/PRO 티어 대상)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09728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브로커 구독 요금제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737360"/>
            <a:ext cx="26517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576285"/>
                </a:solidFill>
                <a:latin typeface="Calibri"/>
              </a:defRPr>
            </a:pPr>
            <a:r>
              <a:t>무료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688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$0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2004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요청 열람만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소개 전송 불가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상담 가능 건수: 없음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737360"/>
            <a:ext cx="26517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576285"/>
                </a:solidFill>
                <a:latin typeface="Calibri"/>
              </a:defRPr>
            </a:pPr>
            <a:r>
              <a:t>베이직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$49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20440" y="2587752"/>
            <a:ext cx="548640" cy="19050"/>
          </a:xfrm>
          <a:prstGeom prst="rect">
            <a:avLst/>
          </a:prstGeom>
          <a:solidFill>
            <a:srgbClr val="576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251960" y="2450592"/>
            <a:ext cx="1005840" cy="3048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41% OFF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$29/월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상담 가능 건수: 월 5건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크레딧 팩 구매 가능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737360"/>
            <a:ext cx="2651760" cy="4572000"/>
          </a:xfrm>
          <a:prstGeom prst="roundRect">
            <a:avLst/>
          </a:prstGeom>
          <a:solidFill>
            <a:srgbClr val="0F1729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858000" y="1600200"/>
            <a:ext cx="137160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가장 인기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D4A853"/>
                </a:solidFill>
                <a:latin typeface="Calibri"/>
              </a:defRPr>
            </a:pPr>
            <a:r>
              <a:t>프로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$99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2587752"/>
            <a:ext cx="548640" cy="19050"/>
          </a:xfrm>
          <a:prstGeom prst="rect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132320" y="2450592"/>
            <a:ext cx="1005840" cy="3048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30% OFF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Calibri"/>
              </a:defRPr>
            </a:pPr>
            <a:r>
              <a:t>$69/월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4652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5E2DC"/>
                </a:solidFill>
                <a:latin typeface="Calibri"/>
              </a:defRPr>
            </a:pPr>
            <a:r>
              <a:t>✓  상담 가능 건수: 월 20건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5E2DC"/>
                </a:solidFill>
                <a:latin typeface="Calibri"/>
              </a:defRPr>
            </a:pPr>
            <a:r>
              <a:t>✓  신규 상담요청 알림기능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E5E2DC"/>
                </a:solidFill>
                <a:latin typeface="Calibri"/>
              </a:defRPr>
            </a:pPr>
            <a:r>
              <a:t>✓  크레딧 팩 구매 가능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98280" y="1737360"/>
            <a:ext cx="2651760" cy="4572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81160" y="20116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576285"/>
                </a:solidFill>
                <a:latin typeface="Calibri"/>
              </a:defRPr>
            </a:pPr>
            <a:r>
              <a:t>프리미엄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81160" y="24688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576285"/>
                </a:solidFill>
                <a:latin typeface="Calibri"/>
              </a:defRPr>
            </a:pPr>
            <a:r>
              <a:t>$199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281160" y="2587752"/>
            <a:ext cx="548640" cy="19050"/>
          </a:xfrm>
          <a:prstGeom prst="rect">
            <a:avLst/>
          </a:prstGeom>
          <a:solidFill>
            <a:srgbClr val="576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0012680" y="2450592"/>
            <a:ext cx="1005840" cy="304800"/>
          </a:xfrm>
          <a:prstGeom prst="round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900" b="1">
                <a:solidFill>
                  <a:srgbClr val="FFFFFF"/>
                </a:solidFill>
                <a:latin typeface="Calibri"/>
              </a:defRPr>
            </a:pPr>
            <a:r>
              <a:t>35% OFF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81160" y="28346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$129/월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26880" y="35661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상담 가능 건수: 무제한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26880" y="39319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신규 상담요청 알림기능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0F1729"/>
                </a:solidFill>
                <a:latin typeface="Calibri"/>
              </a:defRPr>
            </a:pPr>
            <a:r>
              <a:t>✓  실시간 메시지 알림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82880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크레딧 팩 및 단위 경제학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00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SMALL 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576285"/>
                </a:solidFill>
                <a:latin typeface="Calibri"/>
              </a:defRPr>
            </a:pPr>
            <a:r>
              <a:t>3 크레딧  ·  $29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D4A853"/>
                </a:solidFill>
                <a:latin typeface="Calibri"/>
              </a:defRPr>
            </a:pPr>
            <a:r>
              <a:t>$9.67 / 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828800"/>
            <a:ext cx="3200400" cy="2011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40" y="20116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LARGE 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4688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20"/>
              </a:lnSpc>
              <a:spcAft>
                <a:spcPts val="0"/>
              </a:spcAft>
              <a:defRPr sz="1600" b="0">
                <a:solidFill>
                  <a:srgbClr val="576285"/>
                </a:solidFill>
                <a:latin typeface="Calibri"/>
              </a:defRPr>
            </a:pPr>
            <a:r>
              <a:t>10 크레딧  ·  $79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9260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40"/>
              </a:lnSpc>
              <a:spcAft>
                <a:spcPts val="0"/>
              </a:spcAft>
              <a:defRPr sz="2200" b="1">
                <a:solidFill>
                  <a:srgbClr val="D4A853"/>
                </a:solidFill>
                <a:latin typeface="Calibri"/>
              </a:defRPr>
            </a:pPr>
            <a:r>
              <a:t>$7.90 / 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206240"/>
            <a:ext cx="10515600" cy="2011680"/>
          </a:xfrm>
          <a:prstGeom prst="roundRect">
            <a:avLst/>
          </a:prstGeom>
          <a:solidFill>
            <a:srgbClr val="0F1729"/>
          </a:solidFill>
          <a:ln w="25400">
            <a:solidFill>
              <a:srgbClr val="D4A8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4805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0"/>
              </a:spcAft>
              <a:defRPr sz="2000" b="1">
                <a:solidFill>
                  <a:srgbClr val="E6C96E"/>
                </a:solidFill>
                <a:latin typeface="Calibri"/>
              </a:defRPr>
            </a:pPr>
            <a:r>
              <a:t>브로커 ROI 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5029200"/>
            <a:ext cx="9601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• 캐나다 평균 모기지 브로커 수수료: $3,000 ~ $8,000 / 건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• mortly를 통한 고객 1명 획득 비용: $7.90 (LARGE 팩 기준)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• 전환율 10% 가정 시, 실질 고객 획득 비용: ~$79</a:t>
            </a:r>
          </a:p>
          <a:p>
            <a:pPr algn="l">
              <a:lnSpc>
                <a:spcPts val="2100"/>
              </a:lnSpc>
              <a:spcAft>
                <a:spcPts val="40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• ROI: 최소 38배 ~ 101배 투자 수익률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0" y="548640"/>
            <a:ext cx="1463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PROJECTIONS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매출 성장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2286000" y="4754880"/>
            <a:ext cx="1828800" cy="914400"/>
          </a:xfrm>
          <a:prstGeom prst="rect">
            <a:avLst/>
          </a:prstGeom>
          <a:solidFill>
            <a:srgbClr val="5762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4297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E6C96E"/>
                </a:solidFill>
                <a:latin typeface="Calibri"/>
              </a:defRPr>
            </a:pPr>
            <a:r>
              <a:t>~$29K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5E2DC"/>
                </a:solidFill>
                <a:latin typeface="Calibri"/>
              </a:defRPr>
            </a:pPr>
            <a:r>
              <a:t>1년차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유료 브로커 50명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3657600"/>
            <a:ext cx="1828800" cy="2011680"/>
          </a:xfrm>
          <a:prstGeom prst="rect">
            <a:avLst/>
          </a:prstGeom>
          <a:solidFill>
            <a:srgbClr val="E6C9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2004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E6C96E"/>
                </a:solidFill>
                <a:latin typeface="Calibri"/>
              </a:defRPr>
            </a:pPr>
            <a:r>
              <a:t>~$142K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5E2DC"/>
                </a:solidFill>
                <a:latin typeface="Calibri"/>
              </a:defRPr>
            </a:pPr>
            <a:r>
              <a:t>2년차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유료 브로커 200명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0" y="2468880"/>
            <a:ext cx="1828800" cy="32004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0" y="2011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79"/>
              </a:lnSpc>
              <a:spcAft>
                <a:spcPts val="0"/>
              </a:spcAft>
              <a:defRPr sz="2400" b="1">
                <a:solidFill>
                  <a:srgbClr val="E6C96E"/>
                </a:solidFill>
                <a:latin typeface="Calibri"/>
              </a:defRPr>
            </a:pPr>
            <a:r>
              <a:t>~$414K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57607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E5E2DC"/>
                </a:solidFill>
                <a:latin typeface="Calibri"/>
              </a:defRPr>
            </a:pPr>
            <a:r>
              <a:t>3년차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60350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유료 브로커 500명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6400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* 크레딧 팩 매출 별도 (+약 20%)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COMPETITIVE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경쟁 환경 분석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82880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/>
                <a:gridCol w="1752600"/>
                <a:gridCol w="1752600"/>
                <a:gridCol w="1752600"/>
                <a:gridCol w="1752600"/>
                <a:gridCol w="1752600"/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mortly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Ratehub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RateShop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Nesto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기존 소개</a:t>
                      </a:r>
                    </a:p>
                  </a:txBody>
                  <a:tcPr>
                    <a:solidFill>
                      <a:srgbClr val="0F1729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익명 요청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역방향 마켓플레이스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한영 이중 언어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드물게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브로커 경쟁 구도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제한적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제한적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CC3333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신청인 무료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8F7F4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수동 브로커 인증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228B22"/>
                          </a:solidFill>
                          <a:latin typeface="Calibri"/>
                        </a:defRPr>
                      </a:pPr>
                      <a:r>
                        <a:t>✓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다양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다양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자체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576285"/>
                          </a:solidFill>
                          <a:latin typeface="Calibri"/>
                        </a:defRPr>
                      </a:pPr>
                      <a:r>
                        <a:t>없음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46304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확장 가능한 기술 기반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828800"/>
            <a:ext cx="21031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812E"/>
                </a:solidFill>
                <a:latin typeface="Calibri"/>
              </a:defRPr>
            </a:pPr>
            <a:r>
              <a:t>프론트엔드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468880"/>
            <a:ext cx="13716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0F1729"/>
                </a:solidFill>
                <a:latin typeface="Calibri"/>
              </a:defRPr>
            </a:pPr>
            <a:r>
              <a:t>Next.js 16</a:t>
            </a:r>
            <a:br/>
            <a:r>
              <a:t>React 19</a:t>
            </a:r>
            <a:br/>
            <a:r>
              <a:t>TypeScript</a:t>
            </a:r>
            <a:br/>
            <a:r>
              <a:t>Tailwind CSS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828800"/>
            <a:ext cx="21031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812E"/>
                </a:solidFill>
                <a:latin typeface="Calibri"/>
              </a:defRPr>
            </a:pPr>
            <a:r>
              <a:t>백엔드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2468880"/>
            <a:ext cx="13716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26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0F1729"/>
                </a:solidFill>
                <a:latin typeface="Calibri"/>
              </a:defRPr>
            </a:pPr>
            <a:r>
              <a:t>Next.js API Routes</a:t>
            </a:r>
            <a:br/>
            <a:r>
              <a:t>Prisma ORM 5</a:t>
            </a:r>
            <a:br/>
            <a:r>
              <a:t>NextAuth.js (JWT)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1828800"/>
            <a:ext cx="21031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12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812E"/>
                </a:solidFill>
                <a:latin typeface="Calibri"/>
              </a:defRPr>
            </a:pPr>
            <a:r>
              <a:t>데이터베이스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94960" y="2468880"/>
            <a:ext cx="13716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12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0F1729"/>
                </a:solidFill>
                <a:latin typeface="Calibri"/>
              </a:defRPr>
            </a:pPr>
            <a:r>
              <a:t>PostgreSQL</a:t>
            </a:r>
            <a:br/>
            <a:r>
              <a:t>Supabase 호스팅</a:t>
            </a:r>
            <a:br/>
            <a:r>
              <a:t>실시간 WebSocket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1828800"/>
            <a:ext cx="21031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812E"/>
                </a:solidFill>
                <a:latin typeface="Calibri"/>
              </a:defRPr>
            </a:pPr>
            <a:r>
              <a:t>인프라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80960" y="2468880"/>
            <a:ext cx="13716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0F1729"/>
                </a:solidFill>
                <a:latin typeface="Calibri"/>
              </a:defRPr>
            </a:pPr>
            <a:r>
              <a:t>Vercel 배포</a:t>
            </a:r>
            <a:br/>
            <a:r>
              <a:t>자동 스케일링</a:t>
            </a:r>
            <a:br/>
            <a:r>
              <a:t>Edge Network</a:t>
            </a:r>
            <a:br/>
            <a:r>
              <a:t>Cron 자동화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01200" y="1828800"/>
            <a:ext cx="210312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784080" y="201168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A8812E"/>
                </a:solidFill>
                <a:latin typeface="Calibri"/>
              </a:defRPr>
            </a:pPr>
            <a:r>
              <a:t>다국어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66960" y="2468880"/>
            <a:ext cx="13716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84080" y="2743200"/>
            <a:ext cx="1737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300" b="0">
                <a:solidFill>
                  <a:srgbClr val="0F1729"/>
                </a:solidFill>
                <a:latin typeface="Calibri"/>
              </a:defRPr>
            </a:pPr>
            <a:r>
              <a:t>next-i18next</a:t>
            </a:r>
            <a:br/>
            <a:r>
              <a:t>한국어 / 영어</a:t>
            </a:r>
            <a:br/>
            <a:r>
              <a:t>완전 이중 언어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029200" y="548640"/>
            <a:ext cx="109728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플랫폼 현황: MVP 완성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029200" cy="411480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✓  구축 완료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신청인 전체 요청 플로우 (주거용 + 상업용)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브로커 온보딩, 인증, 열람, 소개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실시간 채팅 (Supabase Realtime)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종합 관리자 패널 (대시보드, 관리, 감사)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구독 티어 시스템 + 크레딧 관리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이메일 인증 (Resend)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한영 이중 언어 전체 지원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모바일 반응형 디자인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Vercel 배포 완료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194560"/>
            <a:ext cx="5029200" cy="411480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37744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→  다음 마일스톤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3017520"/>
            <a:ext cx="4297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Stripe 결제 연동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푸시 알림 시스템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OAuth 로그인 (Google)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추천 브로커 배치 알고리즘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문서 업로드 기능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연간 결제 할인</a:t>
            </a:r>
          </a:p>
          <a:p>
            <a:pPr algn="l"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분석 대시보드 (Pro/Premium)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164592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TRUST &amp; SAFETY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0F1729"/>
                </a:solidFill>
                <a:latin typeface="Calibri"/>
              </a:defRPr>
            </a:pPr>
            <a:r>
              <a:t>신뢰 및 안전 시스템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28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수동 브로커 인증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관리자가 모든 브로커의 라이선스를</a:t>
            </a:r>
            <a:br/>
            <a:r>
              <a:t>직접 확인 후 승인합니다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79" y="1828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1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감사 추적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1999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모든 관리자 행동이 타임스탬프,</a:t>
            </a:r>
            <a:br/>
            <a:r>
              <a:t>대상, 사유와 함께 기록됩니다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828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9" y="2011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59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신고 시스템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39" y="2560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사용자가 브로커나 대화를 신고하면</a:t>
            </a:r>
            <a:br/>
            <a:r>
              <a:t>관리자가 조사 후 조치합니다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공개 ID 시스템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9자리 숫자 ID로 식별하며</a:t>
            </a:r>
            <a:br/>
            <a:r>
              <a:t>내부 DB ID는 절대 노출하지 않습니다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4114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59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19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요청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1999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관리자가 모든 요청을 검토 후</a:t>
            </a:r>
            <a:br/>
            <a:r>
              <a:t>승인, 거절, 종료할 수 있습니다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14800"/>
            <a:ext cx="33832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42976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0">
                <a:solidFill>
                  <a:srgbClr val="0F1729"/>
                </a:solidFill>
                <a:latin typeface="Calibri"/>
              </a:defRPr>
            </a:pPr>
            <a:r>
              <a:t>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59" y="4297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  <a:spcAft>
                <a:spcPts val="0"/>
              </a:spcAft>
              <a:defRPr sz="1500" b="1">
                <a:solidFill>
                  <a:srgbClr val="0F1729"/>
                </a:solidFill>
                <a:latin typeface="Calibri"/>
              </a:defRPr>
            </a:pPr>
            <a:r>
              <a:t>대화 모니터링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39" y="4846320"/>
            <a:ext cx="2834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관리자가 활성 대화를 확인하고</a:t>
            </a:r>
            <a:br/>
            <a:r>
              <a:t>부적절한 대화를 종료할 수 있습니다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0" y="548640"/>
            <a:ext cx="164592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418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시장 진출 전략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94560"/>
            <a:ext cx="3474720" cy="411480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1단계: 런칭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GTA 한인 커뮤니티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291840"/>
            <a:ext cx="22860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5661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이중 언어 우위 활용</a:t>
            </a:r>
            <a:br/>
            <a:r>
              <a:t>• 한인 미디어 및 소셜 마케팅</a:t>
            </a:r>
            <a:br/>
            <a:r>
              <a:t>• 커뮤니티 파트너십</a:t>
            </a:r>
            <a:br/>
            <a:r>
              <a:t>• 초기 브로커 50명 확보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14800" y="411480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89120" y="2194560"/>
            <a:ext cx="3474720" cy="411480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2단계: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캐나다 전역 확대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3291840"/>
            <a:ext cx="22860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35661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밴쿠버, 캘거리 진출</a:t>
            </a:r>
            <a:br/>
            <a:r>
              <a:t>• SEO 및 콘텐츠 마케팅</a:t>
            </a:r>
            <a:br/>
            <a:r>
              <a:t>• 브로커 추천 프로그램</a:t>
            </a:r>
            <a:br/>
            <a:r>
              <a:t>• 전체 캐나다 신청인 대상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7955280" y="4114800"/>
            <a:ext cx="274320" cy="274320"/>
          </a:xfrm>
          <a:prstGeom prst="rightArrow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29600" y="2194560"/>
            <a:ext cx="3474720" cy="4114800"/>
          </a:xfrm>
          <a:prstGeom prst="roundRect">
            <a:avLst/>
          </a:prstGeom>
          <a:solidFill>
            <a:srgbClr val="1F2D52"/>
          </a:solidFill>
          <a:ln w="25400">
            <a:solidFill>
              <a:srgbClr val="2E3D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23774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3단계: 스케일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8346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80"/>
              </a:lnSpc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전국 + 파트너십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3291840"/>
            <a:ext cx="228600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0" y="3566160"/>
            <a:ext cx="2926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E5E2DC"/>
                </a:solidFill>
                <a:latin typeface="Calibri"/>
              </a:defRPr>
            </a:pPr>
            <a:r>
              <a:t>• 전국 커버리지</a:t>
            </a:r>
            <a:br/>
            <a:r>
              <a:t>• 부동산 플랫폼 파트너십</a:t>
            </a:r>
            <a:br/>
            <a:r>
              <a:t>• 새로운 언어 커뮤니티</a:t>
            </a:r>
            <a:br/>
            <a:r>
              <a:t>  (중국어, 펀잡어 등)</a:t>
            </a:r>
            <a:br/>
            <a:r>
              <a:t>• 프리미엄 기능 고도화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914400" cy="304800"/>
          </a:xfrm>
          <a:prstGeom prst="round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defRPr sz="1000" b="1">
                <a:solidFill>
                  <a:srgbClr val="0F1729"/>
                </a:solidFill>
                <a:latin typeface="Calibri"/>
              </a:defRPr>
            </a:pPr>
            <a: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840"/>
              </a:lnSpc>
              <a:spcAft>
                <a:spcPts val="0"/>
              </a:spcAft>
              <a:defRPr sz="3200" b="1">
                <a:solidFill>
                  <a:srgbClr val="0F1729"/>
                </a:solidFill>
                <a:latin typeface="Calibri"/>
              </a:defRPr>
            </a:pPr>
            <a:r>
              <a:t>팀 소개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00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828800" y="2377440"/>
            <a:ext cx="1371600" cy="1371600"/>
          </a:xfrm>
          <a:prstGeom prst="ellipse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103120" y="2651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576285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023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[이름]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480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A8812E"/>
                </a:solidFill>
                <a:latin typeface="Calibri"/>
              </a:defRPr>
            </a:pPr>
            <a:r>
              <a:t>[직함]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[약력 및 전문 분야]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200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486400" y="2377440"/>
            <a:ext cx="1371600" cy="1371600"/>
          </a:xfrm>
          <a:prstGeom prst="ellipse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60720" y="2651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576285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4023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[이름]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4480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A8812E"/>
                </a:solidFill>
                <a:latin typeface="Calibri"/>
              </a:defRPr>
            </a:pPr>
            <a:r>
              <a:t>[직함]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[약력 및 전문 분야]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011680"/>
            <a:ext cx="3200400" cy="4114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5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0" y="2377440"/>
            <a:ext cx="1371600" cy="1371600"/>
          </a:xfrm>
          <a:prstGeom prst="ellipse">
            <a:avLst/>
          </a:prstGeom>
          <a:solidFill>
            <a:srgbClr val="E5E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18320" y="265176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320"/>
              </a:lnSpc>
              <a:spcAft>
                <a:spcPts val="0"/>
              </a:spcAft>
              <a:defRPr sz="3600" b="0">
                <a:solidFill>
                  <a:srgbClr val="576285"/>
                </a:solidFill>
                <a:latin typeface="Calibri"/>
              </a:defRPr>
            </a:pPr>
            <a: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402336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0F1729"/>
                </a:solidFill>
                <a:latin typeface="Calibri"/>
              </a:defRPr>
            </a:pPr>
            <a:r>
              <a:t>[이름]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448056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A8812E"/>
                </a:solidFill>
                <a:latin typeface="Calibri"/>
              </a:defRPr>
            </a:pPr>
            <a:r>
              <a:t>[직함]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4846320"/>
            <a:ext cx="26517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439"/>
              </a:lnSpc>
              <a:spcAft>
                <a:spcPts val="0"/>
              </a:spcAft>
              <a:defRPr sz="1200" b="0">
                <a:solidFill>
                  <a:srgbClr val="576285"/>
                </a:solidFill>
                <a:latin typeface="Calibri"/>
              </a:defRPr>
            </a:pPr>
            <a:r>
              <a:t>[약력 및 전문 분야]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9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645920"/>
            <a:ext cx="914400" cy="914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29200" y="2834640"/>
            <a:ext cx="2103120" cy="38100"/>
          </a:xfrm>
          <a:prstGeom prst="rect">
            <a:avLst/>
          </a:prstGeom>
          <a:solidFill>
            <a:srgbClr val="D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310896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600"/>
              </a:lnSpc>
              <a:spcAft>
                <a:spcPts val="0"/>
              </a:spcAft>
              <a:defRPr sz="3000" b="1">
                <a:solidFill>
                  <a:srgbClr val="FFFFFF"/>
                </a:solidFill>
                <a:latin typeface="Calibri"/>
              </a:defRPr>
            </a:pPr>
            <a:r>
              <a:t>브로커들이 먼저 제안하는</a:t>
            </a:r>
            <a:br/>
            <a:r>
              <a:t>새로운 모기지 방식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160"/>
              </a:lnSpc>
              <a:spcAft>
                <a:spcPts val="0"/>
              </a:spcAft>
              <a:defRPr sz="1800" b="1">
                <a:solidFill>
                  <a:srgbClr val="E6C96E"/>
                </a:solidFill>
                <a:latin typeface="Calibri"/>
              </a:defRPr>
            </a:pPr>
            <a:r>
              <a:t>mortly.ca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846320"/>
            <a:ext cx="9418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680"/>
              </a:lnSpc>
              <a:spcAft>
                <a:spcPts val="0"/>
              </a:spcAft>
              <a:defRPr sz="1400" b="0">
                <a:solidFill>
                  <a:srgbClr val="E5E2DC"/>
                </a:solidFill>
                <a:latin typeface="Calibri"/>
              </a:defRPr>
            </a:pPr>
            <a:r>
              <a:t>support@mortly.ca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60350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320"/>
              </a:lnSpc>
              <a:spcAft>
                <a:spcPts val="0"/>
              </a:spcAft>
              <a:defRPr sz="1100" b="0">
                <a:solidFill>
                  <a:srgbClr val="576285"/>
                </a:solidFill>
                <a:latin typeface="Calibri"/>
              </a:defRPr>
            </a:pPr>
            <a:r>
              <a:t>Confidential  ·  내부 검토용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