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ko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149"/>
    <p:restoredTop sz="94647"/>
  </p:normalViewPr>
  <p:slideViewPr>
    <p:cSldViewPr snapToGrid="0">
      <p:cViewPr>
        <p:scale>
          <a:sx n="106" d="100"/>
          <a:sy n="106" d="100"/>
        </p:scale>
        <p:origin x="440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9A8FF-FA8D-2162-685F-544AB3C28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51AC0-5EB6-2400-988C-FD3008632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729D0-39A7-EC9C-100B-BD974C63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44A70-B37D-F31D-7990-888CB36E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7231B-EFA9-01F7-EA8F-74CF2EBD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1410101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6D87F-6069-B307-CEE1-9A103BB8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37CDF-1F89-B208-8282-06A452EAD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90EFAB-14ED-8F44-42CD-1D5DAAE5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425AE-4C70-0455-2A4B-9D9ADA38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8823A-5F33-8854-5B66-4EB4F70C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5728782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0992D-3ACB-A6CB-CFF6-59355F78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717D6-D938-1FF8-E8A1-907B6A70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41CED-ECD6-F284-3AC8-EF0FBBEE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435465-3E07-007C-EF8D-578A016C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E6B32-8972-24FD-3435-922AEC840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8542604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B2802-646A-E79D-2D03-48281175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E3546-B21E-F147-BFC5-6F9FDEEC6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A7C901-7443-AA10-F7DD-D9577025E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D9E87-0816-6151-F4FA-22FEE0BA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AFF0EA-8478-B9E7-170E-5AF809A2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BAD6F8-6D8E-DD56-63EB-9ACF69E5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6786328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F1A99-28AC-39D1-7741-61C9F31F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2FAB3F-6DF0-73BF-D898-B0ABD865B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651670-0263-273D-A3C9-B39985A0C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1ABE30-B076-9454-B8BB-6F6096E34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61AB6E-B73D-C130-49BA-9570DE93F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D5ACD0-C7F5-DD51-FC0B-72080732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7D0D19-C0AE-A999-DF8B-EAEC72F4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AD4231-4EAB-5E9C-C0DD-F7156942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045217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C68E3-080F-F316-8A1D-D4F0C807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B79808-66F3-54AE-7B35-C890C73F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F5F1E1-A28B-8EB0-6A1F-FCB785B3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A4377D-BF14-B7C8-A074-A07B15F2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705714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C957F0-9CA3-817D-2003-E5A38AEB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BF12A2-7952-9D32-F613-734FB593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76AD30-8D96-5EFF-F13D-D0F426CF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323898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66964-E0B4-8632-D723-B43D4FDC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36CBA-1D75-6866-9ACB-AD15ED538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D1E73B-5C7A-A4E4-2302-DB3F0BF23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05925-D53B-B1E1-5F75-881EEB45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140AD-C8F8-7DFB-2517-4555CE0E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95DEE6-33A1-3152-20BA-C93F8F54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7805865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FFD9-318A-96EF-2DE2-3627C5AB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44AED0-260C-545E-B77E-DE8C579F2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207D7A-4056-3FC9-F153-93176D448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AE361A-05E5-77F8-B391-D7DFD921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256B59-FCFB-0E81-AE28-0723A17D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049738-A8ED-9CE0-E099-55ABEFB0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750977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E2809-C217-8810-D20F-4D1AC883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A544CF-93CD-F807-992E-3477A065F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18FAD8-6E32-F71F-4983-52732428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17915A-91EA-7F0D-02CA-03912568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7720D-CAA8-9653-4D6C-53D5C80B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8654592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F96D06-6818-B78A-B9C9-809029A93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DEC4E7-4176-ECF1-C4A9-58B3C217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B5157-D991-1B4B-A027-FA903D53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E02733-0595-F289-609C-FBE10478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AEAB8-1F3A-D62F-6815-A47FC282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2329519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39A8FF-FA8D-2162-685F-544AB3C285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2D51AC0-5EB6-2400-988C-FD30086322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8729D0-39A7-EC9C-100B-BD974C63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444A70-B37D-F31D-7990-888CB36E6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C7231B-EFA9-01F7-EA8F-74CF2EBD0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1410101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A6D87F-6069-B307-CEE1-9A103BB8D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7937CDF-1F89-B208-8282-06A452EAD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90EFAB-14ED-8F44-42CD-1D5DAAE56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0425AE-4C70-0455-2A4B-9D9ADA38C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348823A-5F33-8854-5B66-4EB4F70C4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5728782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D0992D-3ACB-A6CB-CFF6-59355F781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E717D6-D938-1FF8-E8A1-907B6A700F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8C41CED-ECD6-F284-3AC8-EF0FBBEED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8435465-3E07-007C-EF8D-578A016CB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75E6B32-8972-24FD-3435-922AEC840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8542604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2B2802-646A-E79D-2D03-48281175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0E3546-B21E-F147-BFC5-6F9FDEEC6A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2A7C901-7443-AA10-F7DD-D9577025ED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D9E87-0816-6151-F4FA-22FEE0BAB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EAFF0EA-8478-B9E7-170E-5AF809A23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BAD6F8-6D8E-DD56-63EB-9ACF69E5E6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6786328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F1A99-28AC-39D1-7741-61C9F31FA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2FAB3F-6DF0-73BF-D898-B0ABD865BC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6651670-0263-273D-A3C9-B39985A0CD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E1ABE30-B076-9454-B8BB-6F6096E34D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C61AB6E-B73D-C130-49BA-9570DE93F5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7D5ACD0-C7F5-DD51-FC0B-720807321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47D0D19-C0AE-A999-DF8B-EAEC72F4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5AD4231-4EAB-5E9C-C0DD-F7156942A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20452175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C68E3-080F-F316-8A1D-D4F0C8072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4B79808-66F3-54AE-7B35-C890C73F23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AF5F1E1-A28B-8EB0-6A1F-FCB785B30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FA4377D-BF14-B7C8-A074-A07B15F24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70571482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C957F0-9CA3-817D-2003-E5A38AEB6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BF12A2-7952-9D32-F613-734FB593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76AD30-8D96-5EFF-F13D-D0F426CF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3238987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66964-E0B4-8632-D723-B43D4FDC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236CBA-1D75-6866-9ACB-AD15ED538C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DD1E73B-5C7A-A4E4-2302-DB3F0BF230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DD05925-D53B-B1E1-5F75-881EEB454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8140AD-C8F8-7DFB-2517-4555CE0E5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C95DEE6-33A1-3152-20BA-C93F8F544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780586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0FFD9-318A-96EF-2DE2-3627C5AB2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44AED0-260C-545E-B77E-DE8C579F28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6207D7A-4056-3FC9-F153-93176D4486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AE361A-05E5-77F8-B391-D7DFD9212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8256B59-FCFB-0E81-AE28-0723A17DF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049738-A8ED-9CE0-E099-55ABEFB00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75097741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4E2809-C217-8810-D20F-4D1AC8838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A544CF-93CD-F807-992E-3477A065F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18FAD8-6E32-F71F-4983-52732428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17915A-91EA-7F0D-02CA-039125688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967720D-CAA8-9653-4D6C-53D5C80BD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386545921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8F96D06-6818-B78A-B9C9-809029A93E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6DEC4E7-4176-ECF1-C4A9-58B3C2172F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DB5157-D991-1B4B-A027-FA903D53A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DE02733-0595-F289-609C-FBE10478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6AEAB8-1F3A-D62F-6815-A47FC2827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232951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50891C-C45A-9B16-AD1D-938CF5C3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F4FB0-A0B1-03CF-8742-E0733CECC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60122A-F122-FFFA-00F4-4A48A909E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33525-1D81-EC93-916C-B380E104D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FBE670-3EB7-F682-7AD2-268102D3B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</p:spTree>
    <p:extLst>
      <p:ext uri="{BB962C8B-B14F-4D97-AF65-F5344CB8AC3E}">
        <p14:creationId xmlns:p14="http://schemas.microsoft.com/office/powerpoint/2010/main" val="131718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350891C-C45A-9B16-AD1D-938CF5C39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ko-US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CF4FB0-A0B1-03CF-8742-E0733CECC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ko-US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060122A-F122-FFFA-00F4-4A48A909EE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08589E-BE30-2445-917A-E0E85D23290A}" type="datetimeFigureOut">
              <a:rPr lang="ko-US" smtClean="0"/>
              <a:t>4/13/26</a:t>
            </a:fld>
            <a:endParaRPr lang="ko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E33525-1D81-EC93-916C-B380E104D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FBE670-3EB7-F682-7AD2-268102D3B5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A5CA94-08CE-5C45-9346-32DA4AD66836}" type="slidenum">
              <a:rPr lang="ko-US" smtClean="0"/>
              <a:t>‹#›</a:t>
            </a:fld>
            <a:endParaRPr lang="ko-US"/>
          </a:p>
        </p:txBody>
      </p:sp>
      <p:sp>
        <p:nvSpPr>
          <p:cNvPr id="900" name="AccentBar"/>
          <p:cNvSpPr/>
          <p:nvPr userDrawn="1"/>
        </p:nvSpPr>
        <p:spPr>
          <a:xfrm>
            <a:off x="0" y="6705600"/>
            <a:ext cx="12192000" cy="152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</p:spTree>
    <p:extLst>
      <p:ext uri="{BB962C8B-B14F-4D97-AF65-F5344CB8AC3E}">
        <p14:creationId xmlns:p14="http://schemas.microsoft.com/office/powerpoint/2010/main" val="13171881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1729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2D5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C1D66D69-555B-924A-A83B-946F121E2B88}"/>
              </a:ext>
            </a:extLst>
          </p:cNvPr>
          <p:cNvSpPr/>
          <p:nvPr/>
        </p:nvSpPr>
        <p:spPr>
          <a:xfrm>
            <a:off x="762000" y="381000"/>
            <a:ext cx="127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7213D8-F6D6-5E41-BD6B-FA925353C3A5}"/>
              </a:ext>
            </a:extLst>
          </p:cNvPr>
          <p:cNvSpPr txBox="1"/>
          <p:nvPr/>
        </p:nvSpPr>
        <p:spPr>
          <a:xfrm>
            <a:off x="762000" y="2032000"/>
            <a:ext cx="7620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3600" b="1">
                <a:solidFill>
                  <a:srgbClr val="F8F7F4"/>
                </a:solidFill>
              </a:rPr>
              <a:t>모기지 전문가가 먼저 제안하는
새로운 모기지 방식</a:t>
            </a:r>
            <a:endParaRPr lang="ko-US" sz="3600" b="1">
              <a:solidFill>
                <a:srgbClr val="F8F7F4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B17650-8879-E648-9A9D-397545452A7C}"/>
              </a:ext>
            </a:extLst>
          </p:cNvPr>
          <p:cNvSpPr txBox="1"/>
          <p:nvPr/>
        </p:nvSpPr>
        <p:spPr>
          <a:xfrm>
            <a:off x="762000" y="3810000"/>
            <a:ext cx="762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>
                <a:solidFill>
                  <a:srgbClr val="D4A853"/>
                </a:solidFill>
              </a:rPr>
              <a:t>캐나다의 프라이버시 중심 이중언어 모기지 마켓플레이스</a:t>
            </a:r>
            <a:endParaRPr lang="ko-US">
              <a:solidFill>
                <a:srgbClr val="D4A853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C4129D-0E75-F540-BC26-DAD665D49DBF}"/>
              </a:ext>
            </a:extLst>
          </p:cNvPr>
          <p:cNvSpPr txBox="1"/>
          <p:nvPr/>
        </p:nvSpPr>
        <p:spPr>
          <a:xfrm>
            <a:off x="762000" y="6096000"/>
            <a:ext cx="2540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576285"/>
                </a:solidFill>
              </a:rPr>
              <a:t>mortly.ca</a:t>
            </a:r>
            <a:endParaRPr lang="ko-US" sz="1400">
              <a:solidFill>
                <a:srgbClr val="576285"/>
              </a:solidFill>
            </a:endParaRPr>
          </a:p>
        </p:txBody>
      </p:sp>
      <p:pic>
        <p:nvPicPr>
          <p:cNvPr id="13" name="그래픽 12">
            <a:extLst>
              <a:ext uri="{FF2B5EF4-FFF2-40B4-BE49-F238E27FC236}">
                <a16:creationId xmlns:a16="http://schemas.microsoft.com/office/drawing/2014/main" id="{B265FAD3-F671-746C-57C2-43E074DDB5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582197"/>
            <a:ext cx="1257968" cy="338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231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4C659A0-1C3B-F841-9BCA-C2475E5739F0}"/>
              </a:ext>
            </a:extLst>
          </p:cNvPr>
          <p:cNvSpPr txBox="1"/>
          <p:nvPr/>
        </p:nvSpPr>
        <p:spPr>
          <a:xfrm>
            <a:off x="762000" y="381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EXECUTIVE SUMMARY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13F5B6C-70AD-EC4D-969B-B04450A0A891}"/>
              </a:ext>
            </a:extLst>
          </p:cNvPr>
          <p:cNvSpPr/>
          <p:nvPr/>
        </p:nvSpPr>
        <p:spPr>
          <a:xfrm>
            <a:off x="762000" y="7112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0A7E79-9711-F44B-9D19-B7232CF6C123}"/>
              </a:ext>
            </a:extLst>
          </p:cNvPr>
          <p:cNvSpPr txBox="1"/>
          <p:nvPr/>
        </p:nvSpPr>
        <p:spPr>
          <a:xfrm>
            <a:off x="762000" y="889000"/>
            <a:ext cx="10668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F1729"/>
                </a:solidFill>
              </a:rPr>
              <a:t>캐나다 모기지 신청자와 검증된 모기지 전문가를
연결하는 프라이버시 중심 이중언어 마켓플레이스</a:t>
            </a:r>
            <a:endParaRPr lang="ko-US" sz="22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907A90E-2A80-D243-9A78-A3A840A590AF}"/>
              </a:ext>
            </a:extLst>
          </p:cNvPr>
          <p:cNvSpPr/>
          <p:nvPr/>
        </p:nvSpPr>
        <p:spPr>
          <a:xfrm>
            <a:off x="762000" y="2032000"/>
            <a:ext cx="106680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86BFA-B90C-F84E-9B45-3D555925A0D3}"/>
              </a:ext>
            </a:extLst>
          </p:cNvPr>
          <p:cNvSpPr txBox="1"/>
          <p:nvPr/>
        </p:nvSpPr>
        <p:spPr>
          <a:xfrm>
            <a:off x="1016000" y="21336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해결 과제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83102E-BA90-3C43-9BE1-CF446F67307C}"/>
              </a:ext>
            </a:extLst>
          </p:cNvPr>
          <p:cNvSpPr txBox="1"/>
          <p:nvPr/>
        </p:nvSpPr>
        <p:spPr>
          <a:xfrm>
            <a:off x="1016000" y="24130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모기지 탐색의 불투명성과 정보 비대칭 해소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981D790B-E866-D04E-8D48-5D6AC4D062C2}"/>
              </a:ext>
            </a:extLst>
          </p:cNvPr>
          <p:cNvSpPr/>
          <p:nvPr/>
        </p:nvSpPr>
        <p:spPr>
          <a:xfrm>
            <a:off x="762000" y="2870200"/>
            <a:ext cx="106680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06EF53-60B4-2C4B-95F9-9A0A722843FB}"/>
              </a:ext>
            </a:extLst>
          </p:cNvPr>
          <p:cNvSpPr txBox="1"/>
          <p:nvPr/>
        </p:nvSpPr>
        <p:spPr>
          <a:xfrm>
            <a:off x="1016000" y="29718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핵심 구조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E61DCD-379E-C241-BD73-12D95501BA70}"/>
              </a:ext>
            </a:extLst>
          </p:cNvPr>
          <p:cNvSpPr txBox="1"/>
          <p:nvPr/>
        </p:nvSpPr>
        <p:spPr>
          <a:xfrm>
            <a:off x="1016000" y="32512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모기지 신청자가 요청을 올리면</a:t>
            </a:r>
            <a:r>
              <a:rPr lang="en-US" altLang="ko-KR" sz="1400">
                <a:solidFill>
                  <a:srgbClr val="1F2D52"/>
                </a:solidFill>
              </a:rPr>
              <a:t>, </a:t>
            </a:r>
            <a:r>
              <a:rPr lang="ko-KR" altLang="en-US" sz="1400">
                <a:solidFill>
                  <a:srgbClr val="1F2D52"/>
                </a:solidFill>
              </a:rPr>
              <a:t>검증된 모기지 전문가가 먼저 경쟁적으로 응답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70A22A7-EE93-344D-BE6C-C30E99FDDA04}"/>
              </a:ext>
            </a:extLst>
          </p:cNvPr>
          <p:cNvSpPr/>
          <p:nvPr/>
        </p:nvSpPr>
        <p:spPr>
          <a:xfrm>
            <a:off x="762000" y="3708400"/>
            <a:ext cx="106680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AEC743-01A4-4E46-B349-DD40D7FEF4B2}"/>
              </a:ext>
            </a:extLst>
          </p:cNvPr>
          <p:cNvSpPr txBox="1"/>
          <p:nvPr/>
        </p:nvSpPr>
        <p:spPr>
          <a:xfrm>
            <a:off x="1016000" y="3810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수익 모델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111A242-7646-7F44-9984-C99FF890CF22}"/>
              </a:ext>
            </a:extLst>
          </p:cNvPr>
          <p:cNvSpPr txBox="1"/>
          <p:nvPr/>
        </p:nvSpPr>
        <p:spPr>
          <a:xfrm>
            <a:off x="1016000" y="40894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모기지 전문가 월 구독제 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FREE / BASIC / PRO / PREMIUM)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6A250F8-F418-594B-8CC6-65BF945CDBE1}"/>
              </a:ext>
            </a:extLst>
          </p:cNvPr>
          <p:cNvSpPr/>
          <p:nvPr/>
        </p:nvSpPr>
        <p:spPr>
          <a:xfrm>
            <a:off x="762000" y="4546600"/>
            <a:ext cx="106680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F94C67-659F-3044-8529-66768FD07257}"/>
              </a:ext>
            </a:extLst>
          </p:cNvPr>
          <p:cNvSpPr txBox="1"/>
          <p:nvPr/>
        </p:nvSpPr>
        <p:spPr>
          <a:xfrm>
            <a:off x="1016000" y="46482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초기 </a:t>
            </a:r>
            <a:r>
              <a:rPr lang="en-US" sz="1400" b="1">
                <a:solidFill>
                  <a:srgbClr val="D4A853"/>
                </a:solidFill>
              </a:rPr>
              <a:t>Wedge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F73AA6-AEF5-2842-BA8E-C7FD02914E14}"/>
              </a:ext>
            </a:extLst>
          </p:cNvPr>
          <p:cNvSpPr txBox="1"/>
          <p:nvPr/>
        </p:nvSpPr>
        <p:spPr>
          <a:xfrm>
            <a:off x="1016000" y="49276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캐나다 한인 커뮤니티 </a:t>
            </a:r>
            <a:r>
              <a:rPr lang="en-US" altLang="ko-KR" sz="1400">
                <a:solidFill>
                  <a:srgbClr val="1F2D52"/>
                </a:solidFill>
              </a:rPr>
              <a:t>+ </a:t>
            </a:r>
            <a:r>
              <a:rPr lang="ko-KR" altLang="en-US" sz="1400">
                <a:solidFill>
                  <a:srgbClr val="1F2D52"/>
                </a:solidFill>
              </a:rPr>
              <a:t>한국어</a:t>
            </a:r>
            <a:r>
              <a:rPr lang="en-US" altLang="ko-KR" sz="1400">
                <a:solidFill>
                  <a:srgbClr val="1F2D52"/>
                </a:solidFill>
              </a:rPr>
              <a:t>/</a:t>
            </a:r>
            <a:r>
              <a:rPr lang="ko-KR" altLang="en-US" sz="1400">
                <a:solidFill>
                  <a:srgbClr val="1F2D52"/>
                </a:solidFill>
              </a:rPr>
              <a:t>영어 이중언어 신뢰 계층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E84E817A-45D7-6848-9315-22A1A0D22F50}"/>
              </a:ext>
            </a:extLst>
          </p:cNvPr>
          <p:cNvSpPr/>
          <p:nvPr/>
        </p:nvSpPr>
        <p:spPr>
          <a:xfrm>
            <a:off x="762000" y="5384800"/>
            <a:ext cx="10668000" cy="736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2D0A29E-C716-7045-8BF4-CDC29D853F61}"/>
              </a:ext>
            </a:extLst>
          </p:cNvPr>
          <p:cNvSpPr txBox="1"/>
          <p:nvPr/>
        </p:nvSpPr>
        <p:spPr>
          <a:xfrm>
            <a:off x="1016000" y="54864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타이밍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F96A92-803C-EE4E-B2C5-C6A764DF513F}"/>
              </a:ext>
            </a:extLst>
          </p:cNvPr>
          <p:cNvSpPr txBox="1"/>
          <p:nvPr/>
        </p:nvSpPr>
        <p:spPr>
          <a:xfrm>
            <a:off x="1016000" y="57658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캐나다 모기지 시장의 디지털 전환 가속 </a:t>
            </a:r>
            <a:r>
              <a:rPr lang="en-US" altLang="ko-KR" sz="1400">
                <a:solidFill>
                  <a:srgbClr val="1F2D52"/>
                </a:solidFill>
              </a:rPr>
              <a:t>+ </a:t>
            </a:r>
            <a:r>
              <a:rPr lang="ko-KR" altLang="en-US" sz="1400">
                <a:solidFill>
                  <a:srgbClr val="1F2D52"/>
                </a:solidFill>
              </a:rPr>
              <a:t>프라이버시 요구 증가</a:t>
            </a:r>
            <a:endParaRPr lang="ko-US" sz="1400">
              <a:solidFill>
                <a:srgbClr val="1F2D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9486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557C491-8E2E-7349-9901-E4814B2577FB}"/>
              </a:ext>
            </a:extLst>
          </p:cNvPr>
          <p:cNvSpPr txBox="1"/>
          <p:nvPr/>
        </p:nvSpPr>
        <p:spPr>
          <a:xfrm>
            <a:off x="762000" y="3810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PROBLEM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EBA5538-C821-9B41-BB6A-060ABA80E243}"/>
              </a:ext>
            </a:extLst>
          </p:cNvPr>
          <p:cNvSpPr/>
          <p:nvPr/>
        </p:nvSpPr>
        <p:spPr>
          <a:xfrm>
            <a:off x="762000" y="7112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CB27D2-5587-844B-BAEF-DA8FF1E68814}"/>
              </a:ext>
            </a:extLst>
          </p:cNvPr>
          <p:cNvSpPr txBox="1"/>
          <p:nvPr/>
        </p:nvSpPr>
        <p:spPr>
          <a:xfrm>
            <a:off x="762000" y="825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F1729"/>
                </a:solidFill>
              </a:rPr>
              <a:t>캐나다 모기지 탐색은 여전히 불투명하고 비효율적입니다</a:t>
            </a:r>
            <a:endParaRPr lang="ko-US" sz="22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C0A06979-C267-874E-BAA6-8A748BA7AEFA}"/>
              </a:ext>
            </a:extLst>
          </p:cNvPr>
          <p:cNvSpPr/>
          <p:nvPr/>
        </p:nvSpPr>
        <p:spPr>
          <a:xfrm>
            <a:off x="762000" y="1524000"/>
            <a:ext cx="52070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969166-0864-9541-973D-C10F82553506}"/>
              </a:ext>
            </a:extLst>
          </p:cNvPr>
          <p:cNvSpPr txBox="1"/>
          <p:nvPr/>
        </p:nvSpPr>
        <p:spPr>
          <a:xfrm>
            <a:off x="1016000" y="16764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D4A853"/>
                </a:solidFill>
              </a:rPr>
              <a:t>모기지 신청자의 어려움</a:t>
            </a:r>
            <a:endParaRPr lang="ko-US" sz="1600" b="1">
              <a:solidFill>
                <a:srgbClr val="D4A85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96D767-C016-5A44-9E1C-F48C10A32A10}"/>
              </a:ext>
            </a:extLst>
          </p:cNvPr>
          <p:cNvSpPr txBox="1"/>
          <p:nvPr/>
        </p:nvSpPr>
        <p:spPr>
          <a:xfrm>
            <a:off x="1016000" y="2133600"/>
            <a:ext cx="4699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모기지 전문가를 어떻게 비교해야 할지 모름
기존 탐색 경로가 지인 소개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ko-KR" altLang="en-US" sz="1400">
                <a:solidFill>
                  <a:srgbClr val="1F2D52"/>
                </a:solidFill>
              </a:rPr>
              <a:t>광고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ko-KR" altLang="en-US" sz="1400">
                <a:solidFill>
                  <a:srgbClr val="1F2D52"/>
                </a:solidFill>
              </a:rPr>
              <a:t>전화 위주
상담 전 개인정보를 먼저 제공해야 하는 부담
여러 모기지 전문가에게 같은 이야기를 반복
비교 가능한 정보가 부족한 상태에서 결정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3B6483B2-93AD-C14D-A70A-5CF15C91D1E4}"/>
              </a:ext>
            </a:extLst>
          </p:cNvPr>
          <p:cNvSpPr/>
          <p:nvPr/>
        </p:nvSpPr>
        <p:spPr>
          <a:xfrm>
            <a:off x="6223000" y="1524000"/>
            <a:ext cx="5207000" cy="3556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19BB42-60BF-8949-9541-6646DC1ABC60}"/>
              </a:ext>
            </a:extLst>
          </p:cNvPr>
          <p:cNvSpPr txBox="1"/>
          <p:nvPr/>
        </p:nvSpPr>
        <p:spPr>
          <a:xfrm>
            <a:off x="6477000" y="16764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D4A853"/>
                </a:solidFill>
              </a:rPr>
              <a:t>모기지 전문가의 어려움</a:t>
            </a:r>
            <a:endParaRPr lang="ko-US" sz="1600" b="1">
              <a:solidFill>
                <a:srgbClr val="D4A85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583A51-36BB-484E-94BA-5DAA5243930A}"/>
              </a:ext>
            </a:extLst>
          </p:cNvPr>
          <p:cNvSpPr txBox="1"/>
          <p:nvPr/>
        </p:nvSpPr>
        <p:spPr>
          <a:xfrm>
            <a:off x="6477000" y="2133600"/>
            <a:ext cx="4699000" cy="279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의도 높은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high-intent) </a:t>
            </a:r>
            <a:r>
              <a:rPr lang="ko-KR" altLang="en-US" sz="1400">
                <a:solidFill>
                  <a:srgbClr val="1F2D52"/>
                </a:solidFill>
              </a:rPr>
              <a:t>리드 획득이 비효율적
광고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ko-KR" altLang="en-US" sz="1400">
                <a:solidFill>
                  <a:srgbClr val="1F2D52"/>
                </a:solidFill>
              </a:rPr>
              <a:t>콜드 아웃리치에 과도하게 의존
전문성보다 노출이 우선되는 시장 구조
규제 산업에서 신뢰 마찰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trust friction)</a:t>
            </a:r>
            <a:r>
              <a:rPr lang="ko-KR" altLang="en-US" sz="1400">
                <a:solidFill>
                  <a:srgbClr val="1F2D52"/>
                </a:solidFill>
              </a:rPr>
              <a:t>이 큼
차별화된 서비스를 증명할 채널 부재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7E207D-C800-EC49-BC96-DFF58662485F}"/>
              </a:ext>
            </a:extLst>
          </p:cNvPr>
          <p:cNvSpPr txBox="1"/>
          <p:nvPr/>
        </p:nvSpPr>
        <p:spPr>
          <a:xfrm>
            <a:off x="762000" y="52705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576285"/>
                </a:solidFill>
              </a:rPr>
              <a:t>규제 산업</a:t>
            </a:r>
            <a:r>
              <a:rPr lang="en-US" altLang="ko-KR" sz="1400" i="1">
                <a:solidFill>
                  <a:srgbClr val="576285"/>
                </a:solidFill>
              </a:rPr>
              <a:t>(</a:t>
            </a:r>
            <a:r>
              <a:rPr lang="en-US" sz="1400" i="1">
                <a:solidFill>
                  <a:srgbClr val="576285"/>
                </a:solidFill>
              </a:rPr>
              <a:t>regulated vertical)</a:t>
            </a:r>
            <a:r>
              <a:rPr lang="ko-KR" altLang="en-US" sz="1400" i="1">
                <a:solidFill>
                  <a:srgbClr val="576285"/>
                </a:solidFill>
              </a:rPr>
              <a:t>에서 신뢰 계층 자체가 제품의 핵심입니다</a:t>
            </a:r>
            <a:endParaRPr lang="ko-US" sz="1400" i="1">
              <a:solidFill>
                <a:srgbClr val="5762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83428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6EDE54-6888-5C48-AC41-39E1107E8C7E}"/>
              </a:ext>
            </a:extLst>
          </p:cNvPr>
          <p:cNvSpPr txBox="1"/>
          <p:nvPr/>
        </p:nvSpPr>
        <p:spPr>
          <a:xfrm>
            <a:off x="762000" y="381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WORKFLOW INVERSION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E40963E-4097-E949-8AAB-CEB34528A23C}"/>
              </a:ext>
            </a:extLst>
          </p:cNvPr>
          <p:cNvSpPr/>
          <p:nvPr/>
        </p:nvSpPr>
        <p:spPr>
          <a:xfrm>
            <a:off x="762000" y="7112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97D7D3-C2AA-D645-A12A-1A883A512613}"/>
              </a:ext>
            </a:extLst>
          </p:cNvPr>
          <p:cNvSpPr txBox="1"/>
          <p:nvPr/>
        </p:nvSpPr>
        <p:spPr>
          <a:xfrm>
            <a:off x="762000" y="825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F1729"/>
                </a:solidFill>
              </a:rPr>
              <a:t>구조를 뒤집다</a:t>
            </a:r>
            <a:r>
              <a:rPr lang="en-US" altLang="ko-KR" sz="2200" b="1">
                <a:solidFill>
                  <a:srgbClr val="0F1729"/>
                </a:solidFill>
              </a:rPr>
              <a:t>: </a:t>
            </a:r>
            <a:r>
              <a:rPr lang="ko-KR" altLang="en-US" sz="2200" b="1">
                <a:solidFill>
                  <a:srgbClr val="0F1729"/>
                </a:solidFill>
              </a:rPr>
              <a:t>기존 방식 </a:t>
            </a:r>
            <a:r>
              <a:rPr lang="en-US" sz="2200" b="1">
                <a:solidFill>
                  <a:srgbClr val="0F1729"/>
                </a:solidFill>
              </a:rPr>
              <a:t>vs mortly </a:t>
            </a:r>
            <a:r>
              <a:rPr lang="ko-KR" altLang="en-US" sz="2200" b="1">
                <a:solidFill>
                  <a:srgbClr val="0F1729"/>
                </a:solidFill>
              </a:rPr>
              <a:t>방식</a:t>
            </a:r>
            <a:endParaRPr lang="ko-US" sz="22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759EF57-E8C9-804F-92C2-DC0AF7D7EB0F}"/>
              </a:ext>
            </a:extLst>
          </p:cNvPr>
          <p:cNvSpPr/>
          <p:nvPr/>
        </p:nvSpPr>
        <p:spPr>
          <a:xfrm>
            <a:off x="762000" y="1460500"/>
            <a:ext cx="5207000" cy="39370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D73FD09-502A-C64D-B420-EE15ADE57BE7}"/>
              </a:ext>
            </a:extLst>
          </p:cNvPr>
          <p:cNvSpPr txBox="1"/>
          <p:nvPr/>
        </p:nvSpPr>
        <p:spPr>
          <a:xfrm>
            <a:off x="1016000" y="15875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576285"/>
                </a:solidFill>
              </a:rPr>
              <a:t>기존 방식</a:t>
            </a:r>
            <a:endParaRPr lang="ko-US" sz="1600" b="1">
              <a:solidFill>
                <a:srgbClr val="576285"/>
              </a:solidFill>
            </a:endParaRP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69A4B41-964A-F840-8BC8-DF55D0D60975}"/>
              </a:ext>
            </a:extLst>
          </p:cNvPr>
          <p:cNvSpPr/>
          <p:nvPr/>
        </p:nvSpPr>
        <p:spPr>
          <a:xfrm>
            <a:off x="1016000" y="2095500"/>
            <a:ext cx="355600" cy="355600"/>
          </a:xfrm>
          <a:prstGeom prst="ellipse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4586EE-37DA-4046-A3A0-E0F91FEAE356}"/>
              </a:ext>
            </a:extLst>
          </p:cNvPr>
          <p:cNvSpPr txBox="1"/>
          <p:nvPr/>
        </p:nvSpPr>
        <p:spPr>
          <a:xfrm>
            <a:off x="1498600" y="21209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모기지 신청자가 직접 검색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8204782-3196-584B-9EA8-778C66F17A01}"/>
              </a:ext>
            </a:extLst>
          </p:cNvPr>
          <p:cNvSpPr/>
          <p:nvPr/>
        </p:nvSpPr>
        <p:spPr>
          <a:xfrm>
            <a:off x="1016000" y="2705100"/>
            <a:ext cx="355600" cy="355600"/>
          </a:xfrm>
          <a:prstGeom prst="ellipse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D32CA-78F1-5B4D-B506-D58EBE57819A}"/>
              </a:ext>
            </a:extLst>
          </p:cNvPr>
          <p:cNvSpPr txBox="1"/>
          <p:nvPr/>
        </p:nvSpPr>
        <p:spPr>
          <a:xfrm>
            <a:off x="1498600" y="27305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여러 모기지 전문가에게 개별 연락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ED8A9F38-DACF-9A4E-8E14-CAC6B2C1F70A}"/>
              </a:ext>
            </a:extLst>
          </p:cNvPr>
          <p:cNvSpPr/>
          <p:nvPr/>
        </p:nvSpPr>
        <p:spPr>
          <a:xfrm>
            <a:off x="1016000" y="3314700"/>
            <a:ext cx="355600" cy="355600"/>
          </a:xfrm>
          <a:prstGeom prst="ellipse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8BF7D3-69A2-3B4A-940B-922E8AFD7F6A}"/>
              </a:ext>
            </a:extLst>
          </p:cNvPr>
          <p:cNvSpPr txBox="1"/>
          <p:nvPr/>
        </p:nvSpPr>
        <p:spPr>
          <a:xfrm>
            <a:off x="1498600" y="33401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매번 같은 정보를 반복 제공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C46D5D23-51D2-404A-813E-7C049B1061C2}"/>
              </a:ext>
            </a:extLst>
          </p:cNvPr>
          <p:cNvSpPr/>
          <p:nvPr/>
        </p:nvSpPr>
        <p:spPr>
          <a:xfrm>
            <a:off x="1016000" y="3924300"/>
            <a:ext cx="355600" cy="355600"/>
          </a:xfrm>
          <a:prstGeom prst="ellipse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57F5E3-5E98-9147-B86E-1EB7924CE4E6}"/>
              </a:ext>
            </a:extLst>
          </p:cNvPr>
          <p:cNvSpPr txBox="1"/>
          <p:nvPr/>
        </p:nvSpPr>
        <p:spPr>
          <a:xfrm>
            <a:off x="1498600" y="39497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상담 전 개인정보 조기 노출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F9C68258-64FB-2D47-8B13-88692E511229}"/>
              </a:ext>
            </a:extLst>
          </p:cNvPr>
          <p:cNvSpPr/>
          <p:nvPr/>
        </p:nvSpPr>
        <p:spPr>
          <a:xfrm>
            <a:off x="1016000" y="4533900"/>
            <a:ext cx="355600" cy="355600"/>
          </a:xfrm>
          <a:prstGeom prst="ellipse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D16640-C0E9-D846-9D54-59A256651076}"/>
              </a:ext>
            </a:extLst>
          </p:cNvPr>
          <p:cNvSpPr txBox="1"/>
          <p:nvPr/>
        </p:nvSpPr>
        <p:spPr>
          <a:xfrm>
            <a:off x="1498600" y="45593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비교 기준 없이 선택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5BBFF731-3D20-864C-88ED-31B279E9E231}"/>
              </a:ext>
            </a:extLst>
          </p:cNvPr>
          <p:cNvSpPr/>
          <p:nvPr/>
        </p:nvSpPr>
        <p:spPr>
          <a:xfrm>
            <a:off x="6047875" y="3048000"/>
            <a:ext cx="457200" cy="4572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B38FEE12-D282-9E4E-86C5-65125953BE67}"/>
              </a:ext>
            </a:extLst>
          </p:cNvPr>
          <p:cNvSpPr/>
          <p:nvPr/>
        </p:nvSpPr>
        <p:spPr>
          <a:xfrm>
            <a:off x="6559887" y="1460500"/>
            <a:ext cx="5207000" cy="39370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341B8A-4A18-904B-B82B-2A630DAC8507}"/>
              </a:ext>
            </a:extLst>
          </p:cNvPr>
          <p:cNvSpPr txBox="1"/>
          <p:nvPr/>
        </p:nvSpPr>
        <p:spPr>
          <a:xfrm>
            <a:off x="6813887" y="1587500"/>
            <a:ext cx="469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D4A853"/>
                </a:solidFill>
              </a:rPr>
              <a:t>mortly </a:t>
            </a:r>
            <a:r>
              <a:rPr lang="ko-KR" altLang="en-US" sz="1600" b="1">
                <a:solidFill>
                  <a:srgbClr val="D4A853"/>
                </a:solidFill>
              </a:rPr>
              <a:t>방식</a:t>
            </a:r>
            <a:endParaRPr lang="ko-US" sz="1600" b="1">
              <a:solidFill>
                <a:srgbClr val="D4A853"/>
              </a:solidFill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8F3D4D0E-EF66-0C41-9267-129502398BE1}"/>
              </a:ext>
            </a:extLst>
          </p:cNvPr>
          <p:cNvSpPr/>
          <p:nvPr/>
        </p:nvSpPr>
        <p:spPr>
          <a:xfrm>
            <a:off x="6813887" y="2095500"/>
            <a:ext cx="355600" cy="355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FAD4994-14D9-6146-9D50-490032B316F3}"/>
              </a:ext>
            </a:extLst>
          </p:cNvPr>
          <p:cNvSpPr txBox="1"/>
          <p:nvPr/>
        </p:nvSpPr>
        <p:spPr>
          <a:xfrm>
            <a:off x="7296487" y="21209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모기지 신청자가 구조화된 요청 </a:t>
            </a:r>
            <a:r>
              <a:rPr lang="en-US" altLang="ko-KR" sz="1400">
                <a:solidFill>
                  <a:srgbClr val="F8F7F4"/>
                </a:solidFill>
              </a:rPr>
              <a:t>1</a:t>
            </a:r>
            <a:r>
              <a:rPr lang="ko-KR" altLang="en-US" sz="1400">
                <a:solidFill>
                  <a:srgbClr val="F8F7F4"/>
                </a:solidFill>
              </a:rPr>
              <a:t>건 등록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22" name="타원 21">
            <a:extLst>
              <a:ext uri="{FF2B5EF4-FFF2-40B4-BE49-F238E27FC236}">
                <a16:creationId xmlns:a16="http://schemas.microsoft.com/office/drawing/2014/main" id="{E1AF67CB-F945-DA45-9A85-9359D4155978}"/>
              </a:ext>
            </a:extLst>
          </p:cNvPr>
          <p:cNvSpPr/>
          <p:nvPr/>
        </p:nvSpPr>
        <p:spPr>
          <a:xfrm>
            <a:off x="6813887" y="2705100"/>
            <a:ext cx="355600" cy="355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0DBD3D6-FBA6-6B4F-A6BF-84AA36A041F3}"/>
              </a:ext>
            </a:extLst>
          </p:cNvPr>
          <p:cNvSpPr txBox="1"/>
          <p:nvPr/>
        </p:nvSpPr>
        <p:spPr>
          <a:xfrm>
            <a:off x="7296487" y="27305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검증된 모기지 전문가들이 먼저 응답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048F954C-7360-A84A-828F-77FC69F0A5C9}"/>
              </a:ext>
            </a:extLst>
          </p:cNvPr>
          <p:cNvSpPr/>
          <p:nvPr/>
        </p:nvSpPr>
        <p:spPr>
          <a:xfrm>
            <a:off x="6813887" y="3314700"/>
            <a:ext cx="355600" cy="355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5B59A4C-754E-8E47-B5F7-372108806EF4}"/>
              </a:ext>
            </a:extLst>
          </p:cNvPr>
          <p:cNvSpPr txBox="1"/>
          <p:nvPr/>
        </p:nvSpPr>
        <p:spPr>
          <a:xfrm>
            <a:off x="7296487" y="33401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플랫폼 안에서 비교</a:t>
            </a:r>
            <a:r>
              <a:rPr lang="en-US" altLang="ko-KR" sz="1400">
                <a:solidFill>
                  <a:srgbClr val="F8F7F4"/>
                </a:solidFill>
              </a:rPr>
              <a:t>·</a:t>
            </a:r>
            <a:r>
              <a:rPr lang="ko-KR" altLang="en-US" sz="1400">
                <a:solidFill>
                  <a:srgbClr val="F8F7F4"/>
                </a:solidFill>
              </a:rPr>
              <a:t>채팅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C6ECE919-4341-784A-A35C-5E1BCB28FF84}"/>
              </a:ext>
            </a:extLst>
          </p:cNvPr>
          <p:cNvSpPr/>
          <p:nvPr/>
        </p:nvSpPr>
        <p:spPr>
          <a:xfrm>
            <a:off x="6813887" y="3924300"/>
            <a:ext cx="355600" cy="355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4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F91D90E-8932-BC4B-A2BA-136FD4B688B1}"/>
              </a:ext>
            </a:extLst>
          </p:cNvPr>
          <p:cNvSpPr txBox="1"/>
          <p:nvPr/>
        </p:nvSpPr>
        <p:spPr>
          <a:xfrm>
            <a:off x="7296487" y="39497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연락처는 준비됐을 때만 공개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FF6F4C94-0B1E-F343-A010-49C06C0F9ACA}"/>
              </a:ext>
            </a:extLst>
          </p:cNvPr>
          <p:cNvSpPr/>
          <p:nvPr/>
        </p:nvSpPr>
        <p:spPr>
          <a:xfrm>
            <a:off x="6813887" y="4533900"/>
            <a:ext cx="355600" cy="355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64403A3-2E0C-2141-8D15-80A22F130D52}"/>
              </a:ext>
            </a:extLst>
          </p:cNvPr>
          <p:cNvSpPr txBox="1"/>
          <p:nvPr/>
        </p:nvSpPr>
        <p:spPr>
          <a:xfrm>
            <a:off x="7296487" y="4559300"/>
            <a:ext cx="431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데이터 기반의 선택</a:t>
            </a:r>
            <a:endParaRPr lang="ko-US" sz="1400">
              <a:solidFill>
                <a:srgbClr val="F8F7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01907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945D0AC-FFEF-AD4E-B651-1F67E7777029}"/>
              </a:ext>
            </a:extLst>
          </p:cNvPr>
          <p:cNvSpPr txBox="1"/>
          <p:nvPr/>
        </p:nvSpPr>
        <p:spPr>
          <a:xfrm>
            <a:off x="762000" y="3810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PRODUCT OVERVIEW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49BCB4-D44E-384C-BA36-FE8FB09F7389}"/>
              </a:ext>
            </a:extLst>
          </p:cNvPr>
          <p:cNvSpPr/>
          <p:nvPr/>
        </p:nvSpPr>
        <p:spPr>
          <a:xfrm>
            <a:off x="762000" y="7112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2920BD-C1C6-1B4A-A762-0F23E09AF123}"/>
              </a:ext>
            </a:extLst>
          </p:cNvPr>
          <p:cNvSpPr txBox="1"/>
          <p:nvPr/>
        </p:nvSpPr>
        <p:spPr>
          <a:xfrm>
            <a:off x="762000" y="825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b="1">
                <a:solidFill>
                  <a:srgbClr val="0F1729"/>
                </a:solidFill>
              </a:rPr>
              <a:t>익명에 가까운 요청 게시 → 검증된 모기지 전문가 응답 → 플랫폼 내 비교</a:t>
            </a:r>
            <a:r>
              <a:rPr lang="en-US" altLang="ko-KR" b="1">
                <a:solidFill>
                  <a:srgbClr val="0F1729"/>
                </a:solidFill>
              </a:rPr>
              <a:t>·</a:t>
            </a:r>
            <a:r>
              <a:rPr lang="ko-KR" altLang="en-US" b="1">
                <a:solidFill>
                  <a:srgbClr val="0F1729"/>
                </a:solidFill>
              </a:rPr>
              <a:t>채팅 → 모기지 전문가 </a:t>
            </a:r>
            <a:r>
              <a:rPr lang="en-US" b="1">
                <a:solidFill>
                  <a:srgbClr val="0F1729"/>
                </a:solidFill>
              </a:rPr>
              <a:t>SaaS </a:t>
            </a:r>
            <a:r>
              <a:rPr lang="ko-KR" altLang="en-US" b="1">
                <a:solidFill>
                  <a:srgbClr val="0F1729"/>
                </a:solidFill>
              </a:rPr>
              <a:t>수익화</a:t>
            </a:r>
            <a:endParaRPr lang="ko-US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1D648D4-1F57-6041-9129-C8FAEBEAFC23}"/>
              </a:ext>
            </a:extLst>
          </p:cNvPr>
          <p:cNvSpPr/>
          <p:nvPr/>
        </p:nvSpPr>
        <p:spPr>
          <a:xfrm>
            <a:off x="762000" y="1651000"/>
            <a:ext cx="3429000" cy="393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73FE60A6-F4C1-8B45-A2A8-61A03EAEEBFD}"/>
              </a:ext>
            </a:extLst>
          </p:cNvPr>
          <p:cNvSpPr/>
          <p:nvPr/>
        </p:nvSpPr>
        <p:spPr>
          <a:xfrm>
            <a:off x="762000" y="1651000"/>
            <a:ext cx="3429000" cy="508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B798A8D2-BAEE-554D-8F63-780D3ED25FAF}"/>
              </a:ext>
            </a:extLst>
          </p:cNvPr>
          <p:cNvSpPr/>
          <p:nvPr/>
        </p:nvSpPr>
        <p:spPr>
          <a:xfrm>
            <a:off x="1016000" y="1879600"/>
            <a:ext cx="457200" cy="4572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D4A853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9EDF8F-7951-8A48-B052-F5CDAA625D7E}"/>
              </a:ext>
            </a:extLst>
          </p:cNvPr>
          <p:cNvSpPr txBox="1"/>
          <p:nvPr/>
        </p:nvSpPr>
        <p:spPr>
          <a:xfrm>
            <a:off x="1016000" y="24384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729"/>
                </a:solidFill>
              </a:rPr>
              <a:t>Privacy-First
</a:t>
            </a:r>
            <a:r>
              <a:rPr lang="ko-KR" altLang="en-US" sz="1600" b="1">
                <a:solidFill>
                  <a:srgbClr val="0F1729"/>
                </a:solidFill>
              </a:rPr>
              <a:t>모기지 신청자 경험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E913584-E650-4C40-BE87-EFABF6BD58C1}"/>
              </a:ext>
            </a:extLst>
          </p:cNvPr>
          <p:cNvSpPr/>
          <p:nvPr/>
        </p:nvSpPr>
        <p:spPr>
          <a:xfrm>
            <a:off x="1016000" y="3149600"/>
            <a:ext cx="2921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60339-178A-6E46-88C4-9DB2E446174E}"/>
              </a:ext>
            </a:extLst>
          </p:cNvPr>
          <p:cNvSpPr txBox="1"/>
          <p:nvPr/>
        </p:nvSpPr>
        <p:spPr>
          <a:xfrm>
            <a:off x="1016000" y="3302000"/>
            <a:ext cx="2921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구조화된 요청 등록
연락처 자동 공개 없음
주거용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ko-KR" altLang="en-US" sz="1400">
                <a:solidFill>
                  <a:srgbClr val="1F2D52"/>
                </a:solidFill>
              </a:rPr>
              <a:t>상업용 모두 지원
무료 사용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CCDF1BF8-5314-2E43-A18E-E6DEC0611B3C}"/>
              </a:ext>
            </a:extLst>
          </p:cNvPr>
          <p:cNvSpPr/>
          <p:nvPr/>
        </p:nvSpPr>
        <p:spPr>
          <a:xfrm>
            <a:off x="4381500" y="1651000"/>
            <a:ext cx="3429000" cy="393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9C701A6-A08D-A84A-BF47-84E9ED19C9DC}"/>
              </a:ext>
            </a:extLst>
          </p:cNvPr>
          <p:cNvSpPr/>
          <p:nvPr/>
        </p:nvSpPr>
        <p:spPr>
          <a:xfrm>
            <a:off x="4381500" y="1651000"/>
            <a:ext cx="3429000" cy="508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F02F010A-F2F0-3840-BCB7-0EB9BFA517D7}"/>
              </a:ext>
            </a:extLst>
          </p:cNvPr>
          <p:cNvSpPr/>
          <p:nvPr/>
        </p:nvSpPr>
        <p:spPr>
          <a:xfrm>
            <a:off x="4635500" y="1879600"/>
            <a:ext cx="457200" cy="4572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D4A853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7B0180-411E-AD40-A0FF-85BEFF546814}"/>
              </a:ext>
            </a:extLst>
          </p:cNvPr>
          <p:cNvSpPr txBox="1"/>
          <p:nvPr/>
        </p:nvSpPr>
        <p:spPr>
          <a:xfrm>
            <a:off x="4635500" y="24384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729"/>
                </a:solidFill>
              </a:rPr>
              <a:t>Verified
</a:t>
            </a:r>
            <a:r>
              <a:rPr lang="ko-KR" altLang="en-US" sz="1600" b="1">
                <a:solidFill>
                  <a:srgbClr val="0F1729"/>
                </a:solidFill>
              </a:rPr>
              <a:t>모기지 전문가 마켓플레이스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9C9D2F9B-02F2-B44A-BD7D-CB4066B31C90}"/>
              </a:ext>
            </a:extLst>
          </p:cNvPr>
          <p:cNvSpPr/>
          <p:nvPr/>
        </p:nvSpPr>
        <p:spPr>
          <a:xfrm>
            <a:off x="4635500" y="3149600"/>
            <a:ext cx="2921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CE7AF5-BE32-AD4A-BBB2-A16FA1885494}"/>
              </a:ext>
            </a:extLst>
          </p:cNvPr>
          <p:cNvSpPr txBox="1"/>
          <p:nvPr/>
        </p:nvSpPr>
        <p:spPr>
          <a:xfrm>
            <a:off x="4635500" y="3302000"/>
            <a:ext cx="2921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관리자 검증 게이트
의도 기반 인바운드 수요
구독 기반 크레딧 시스템
프로필 온보딩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4F59FB9-87DC-794F-99F5-C59344AFB926}"/>
              </a:ext>
            </a:extLst>
          </p:cNvPr>
          <p:cNvSpPr/>
          <p:nvPr/>
        </p:nvSpPr>
        <p:spPr>
          <a:xfrm>
            <a:off x="8001000" y="1651000"/>
            <a:ext cx="3429000" cy="393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22A4E481-4D6C-9E42-A9F7-824F70B41159}"/>
              </a:ext>
            </a:extLst>
          </p:cNvPr>
          <p:cNvSpPr/>
          <p:nvPr/>
        </p:nvSpPr>
        <p:spPr>
          <a:xfrm>
            <a:off x="8001000" y="1651000"/>
            <a:ext cx="3429000" cy="508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F49B5AFD-0BFB-C749-BB6D-448253CD6563}"/>
              </a:ext>
            </a:extLst>
          </p:cNvPr>
          <p:cNvSpPr/>
          <p:nvPr/>
        </p:nvSpPr>
        <p:spPr>
          <a:xfrm>
            <a:off x="8255000" y="1879600"/>
            <a:ext cx="457200" cy="4572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600" b="1">
                <a:solidFill>
                  <a:srgbClr val="D4A853"/>
                </a:solidFill>
              </a:rPr>
              <a:t>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E8825A-D204-064A-93ED-C4AA16BAD185}"/>
              </a:ext>
            </a:extLst>
          </p:cNvPr>
          <p:cNvSpPr txBox="1"/>
          <p:nvPr/>
        </p:nvSpPr>
        <p:spPr>
          <a:xfrm>
            <a:off x="8255000" y="2438400"/>
            <a:ext cx="2921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729"/>
                </a:solidFill>
              </a:rPr>
              <a:t>Operational
</a:t>
            </a:r>
            <a:r>
              <a:rPr lang="ko-KR" altLang="en-US" sz="1600" b="1">
                <a:solidFill>
                  <a:srgbClr val="0F1729"/>
                </a:solidFill>
              </a:rPr>
              <a:t>신뢰 인프라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99BED7D0-3D79-C54E-B067-C63AAA3BFEE9}"/>
              </a:ext>
            </a:extLst>
          </p:cNvPr>
          <p:cNvSpPr/>
          <p:nvPr/>
        </p:nvSpPr>
        <p:spPr>
          <a:xfrm>
            <a:off x="8255000" y="3149600"/>
            <a:ext cx="2921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3283EB8-6002-1749-A8EC-811A861D7A4C}"/>
              </a:ext>
            </a:extLst>
          </p:cNvPr>
          <p:cNvSpPr txBox="1"/>
          <p:nvPr/>
        </p:nvSpPr>
        <p:spPr>
          <a:xfrm>
            <a:off x="8255000" y="3302000"/>
            <a:ext cx="2921000" cy="203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요청 승인 큐
신고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ko-KR" altLang="en-US" sz="1400">
                <a:solidFill>
                  <a:srgbClr val="1F2D52"/>
                </a:solidFill>
              </a:rPr>
              <a:t>제재 시스템
자동 만료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ko-KR" altLang="en-US" sz="1400">
                <a:solidFill>
                  <a:srgbClr val="1F2D52"/>
                </a:solidFill>
              </a:rPr>
              <a:t>정리 정책
감사 로그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audit trail)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C670FF6-22D9-D64E-B29E-3EF4AB5DBD0D}"/>
              </a:ext>
            </a:extLst>
          </p:cNvPr>
          <p:cNvSpPr txBox="1"/>
          <p:nvPr/>
        </p:nvSpPr>
        <p:spPr>
          <a:xfrm>
            <a:off x="762000" y="58166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576285"/>
                </a:solidFill>
              </a:rPr>
              <a:t>단순 매칭 랜딩페이지가 아닌</a:t>
            </a:r>
            <a:r>
              <a:rPr lang="en-US" altLang="ko-KR" sz="1400" i="1">
                <a:solidFill>
                  <a:srgbClr val="576285"/>
                </a:solidFill>
              </a:rPr>
              <a:t>, </a:t>
            </a:r>
            <a:r>
              <a:rPr lang="ko-KR" altLang="en-US" sz="1400" i="1">
                <a:solidFill>
                  <a:srgbClr val="576285"/>
                </a:solidFill>
              </a:rPr>
              <a:t>검증</a:t>
            </a:r>
            <a:r>
              <a:rPr lang="en-US" altLang="ko-KR" sz="1400" i="1">
                <a:solidFill>
                  <a:srgbClr val="576285"/>
                </a:solidFill>
              </a:rPr>
              <a:t>·</a:t>
            </a:r>
            <a:r>
              <a:rPr lang="ko-KR" altLang="en-US" sz="1400" i="1">
                <a:solidFill>
                  <a:srgbClr val="576285"/>
                </a:solidFill>
              </a:rPr>
              <a:t>운영</a:t>
            </a:r>
            <a:r>
              <a:rPr lang="en-US" altLang="ko-KR" sz="1400" i="1">
                <a:solidFill>
                  <a:srgbClr val="576285"/>
                </a:solidFill>
              </a:rPr>
              <a:t>·</a:t>
            </a:r>
            <a:r>
              <a:rPr lang="ko-KR" altLang="en-US" sz="1400" i="1">
                <a:solidFill>
                  <a:srgbClr val="576285"/>
                </a:solidFill>
              </a:rPr>
              <a:t>대화</a:t>
            </a:r>
            <a:r>
              <a:rPr lang="en-US" altLang="ko-KR" sz="1400" i="1">
                <a:solidFill>
                  <a:srgbClr val="576285"/>
                </a:solidFill>
              </a:rPr>
              <a:t>·</a:t>
            </a:r>
            <a:r>
              <a:rPr lang="ko-KR" altLang="en-US" sz="1400" i="1">
                <a:solidFill>
                  <a:srgbClr val="576285"/>
                </a:solidFill>
              </a:rPr>
              <a:t>결제</a:t>
            </a:r>
            <a:r>
              <a:rPr lang="en-US" altLang="ko-KR" sz="1400" i="1">
                <a:solidFill>
                  <a:srgbClr val="576285"/>
                </a:solidFill>
              </a:rPr>
              <a:t>·</a:t>
            </a:r>
            <a:r>
              <a:rPr lang="ko-KR" altLang="en-US" sz="1400" i="1">
                <a:solidFill>
                  <a:srgbClr val="576285"/>
                </a:solidFill>
              </a:rPr>
              <a:t>정책 자동화를 갖춘 </a:t>
            </a:r>
            <a:r>
              <a:rPr lang="en-US" sz="1400" i="1">
                <a:solidFill>
                  <a:srgbClr val="576285"/>
                </a:solidFill>
              </a:rPr>
              <a:t>Marketplace Operating System</a:t>
            </a:r>
            <a:endParaRPr lang="ko-US" sz="1400" i="1">
              <a:solidFill>
                <a:srgbClr val="5762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03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8E3B1BF-2092-AB45-A76C-61A6FB8B5611}"/>
              </a:ext>
            </a:extLst>
          </p:cNvPr>
          <p:cNvSpPr txBox="1"/>
          <p:nvPr/>
        </p:nvSpPr>
        <p:spPr>
          <a:xfrm>
            <a:off x="762000" y="317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MORTGAGE APPLICANT JOURNEY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07D5C3AF-C12F-6149-8608-05940E5A0B7C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EC2ADB-A705-B34A-A7FC-86FF838B7BFE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모기지 신청자 여정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무료로</a:t>
            </a:r>
            <a:r>
              <a:rPr lang="en-US" altLang="ko-KR" sz="2000" b="1">
                <a:solidFill>
                  <a:srgbClr val="0F1729"/>
                </a:solidFill>
              </a:rPr>
              <a:t>, </a:t>
            </a:r>
            <a:r>
              <a:rPr lang="ko-KR" altLang="en-US" sz="2000" b="1">
                <a:solidFill>
                  <a:srgbClr val="0F1729"/>
                </a:solidFill>
              </a:rPr>
              <a:t>안전하게</a:t>
            </a:r>
            <a:r>
              <a:rPr lang="en-US" altLang="ko-KR" sz="2000" b="1">
                <a:solidFill>
                  <a:srgbClr val="0F1729"/>
                </a:solidFill>
              </a:rPr>
              <a:t>, </a:t>
            </a:r>
            <a:r>
              <a:rPr lang="ko-KR" altLang="en-US" sz="2000" b="1">
                <a:solidFill>
                  <a:srgbClr val="0F1729"/>
                </a:solidFill>
              </a:rPr>
              <a:t>비교하며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ABDBB1B-DDAC-844C-91B5-0800A1C00742}"/>
              </a:ext>
            </a:extLst>
          </p:cNvPr>
          <p:cNvSpPr/>
          <p:nvPr/>
        </p:nvSpPr>
        <p:spPr>
          <a:xfrm>
            <a:off x="7620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B2C3724F-4CE0-F446-9381-701F89D9F935}"/>
              </a:ext>
            </a:extLst>
          </p:cNvPr>
          <p:cNvSpPr/>
          <p:nvPr/>
        </p:nvSpPr>
        <p:spPr>
          <a:xfrm>
            <a:off x="1397000" y="1460500"/>
            <a:ext cx="381000" cy="381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2841A-E026-CE49-95AD-9F3BA473950B}"/>
              </a:ext>
            </a:extLst>
          </p:cNvPr>
          <p:cNvSpPr txBox="1"/>
          <p:nvPr/>
        </p:nvSpPr>
        <p:spPr>
          <a:xfrm>
            <a:off x="8255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회원가입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51906D-7A27-E445-82B6-0BBC47C80432}"/>
              </a:ext>
            </a:extLst>
          </p:cNvPr>
          <p:cNvSpPr txBox="1"/>
          <p:nvPr/>
        </p:nvSpPr>
        <p:spPr>
          <a:xfrm>
            <a:off x="8255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이메일</a:t>
            </a:r>
            <a:r>
              <a:rPr lang="en-US" altLang="ko-KR" sz="1100">
                <a:solidFill>
                  <a:srgbClr val="576285"/>
                </a:solidFill>
              </a:rPr>
              <a:t>/</a:t>
            </a:r>
            <a:r>
              <a:rPr lang="en-US" sz="1100">
                <a:solidFill>
                  <a:srgbClr val="576285"/>
                </a:solidFill>
              </a:rPr>
              <a:t>Google
</a:t>
            </a:r>
            <a:r>
              <a:rPr lang="ko-KR" altLang="en-US" sz="1100">
                <a:solidFill>
                  <a:srgbClr val="576285"/>
                </a:solidFill>
              </a:rPr>
              <a:t>이메일 인증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CBE54042-B0DE-9549-9C8B-B9054FDC998B}"/>
              </a:ext>
            </a:extLst>
          </p:cNvPr>
          <p:cNvSpPr/>
          <p:nvPr/>
        </p:nvSpPr>
        <p:spPr>
          <a:xfrm>
            <a:off x="24257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08C1C6D6-C66A-2641-99E4-0B6CFE928CCC}"/>
              </a:ext>
            </a:extLst>
          </p:cNvPr>
          <p:cNvSpPr/>
          <p:nvPr/>
        </p:nvSpPr>
        <p:spPr>
          <a:xfrm>
            <a:off x="25654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45148D04-AE48-C946-9F04-8AB2D69128F1}"/>
              </a:ext>
            </a:extLst>
          </p:cNvPr>
          <p:cNvSpPr/>
          <p:nvPr/>
        </p:nvSpPr>
        <p:spPr>
          <a:xfrm>
            <a:off x="3200400" y="1460500"/>
            <a:ext cx="381000" cy="381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AF7BD42-3616-A14D-A2FA-40041957E1D3}"/>
              </a:ext>
            </a:extLst>
          </p:cNvPr>
          <p:cNvSpPr txBox="1"/>
          <p:nvPr/>
        </p:nvSpPr>
        <p:spPr>
          <a:xfrm>
            <a:off x="26289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요청 작성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2AEF8CF-75F5-A545-8AC0-A7F1E9455117}"/>
              </a:ext>
            </a:extLst>
          </p:cNvPr>
          <p:cNvSpPr txBox="1"/>
          <p:nvPr/>
        </p:nvSpPr>
        <p:spPr>
          <a:xfrm>
            <a:off x="26289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주거용</a:t>
            </a:r>
            <a:r>
              <a:rPr lang="en-US" altLang="ko-KR" sz="1100">
                <a:solidFill>
                  <a:srgbClr val="576285"/>
                </a:solidFill>
              </a:rPr>
              <a:t>/</a:t>
            </a:r>
            <a:r>
              <a:rPr lang="ko-KR" altLang="en-US" sz="1100">
                <a:solidFill>
                  <a:srgbClr val="576285"/>
                </a:solidFill>
              </a:rPr>
              <a:t>상업용
멀티스텝 폼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9045900A-792F-3C43-8C9E-3A938BFBE6FA}"/>
              </a:ext>
            </a:extLst>
          </p:cNvPr>
          <p:cNvSpPr/>
          <p:nvPr/>
        </p:nvSpPr>
        <p:spPr>
          <a:xfrm>
            <a:off x="42291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2D1467F6-A115-6F46-BE26-7B4B95E40AAD}"/>
              </a:ext>
            </a:extLst>
          </p:cNvPr>
          <p:cNvSpPr/>
          <p:nvPr/>
        </p:nvSpPr>
        <p:spPr>
          <a:xfrm>
            <a:off x="43688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85ADC0F8-2C5B-3A49-903E-4CD4AEA1E2B6}"/>
              </a:ext>
            </a:extLst>
          </p:cNvPr>
          <p:cNvSpPr/>
          <p:nvPr/>
        </p:nvSpPr>
        <p:spPr>
          <a:xfrm>
            <a:off x="5003800" y="1460500"/>
            <a:ext cx="381000" cy="381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DA1E2A-F047-C540-821E-CF443A16585F}"/>
              </a:ext>
            </a:extLst>
          </p:cNvPr>
          <p:cNvSpPr txBox="1"/>
          <p:nvPr/>
        </p:nvSpPr>
        <p:spPr>
          <a:xfrm>
            <a:off x="44323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승인 대기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18DE4-FD1D-514E-8862-0FAF2F77A121}"/>
              </a:ext>
            </a:extLst>
          </p:cNvPr>
          <p:cNvSpPr txBox="1"/>
          <p:nvPr/>
        </p:nvSpPr>
        <p:spPr>
          <a:xfrm>
            <a:off x="44323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관리자 검토
후 공개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65385724-67E9-B043-AF6F-890EEF26423D}"/>
              </a:ext>
            </a:extLst>
          </p:cNvPr>
          <p:cNvSpPr/>
          <p:nvPr/>
        </p:nvSpPr>
        <p:spPr>
          <a:xfrm>
            <a:off x="60325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E77BB998-4CDC-F545-BA33-6E6D25F23C3B}"/>
              </a:ext>
            </a:extLst>
          </p:cNvPr>
          <p:cNvSpPr/>
          <p:nvPr/>
        </p:nvSpPr>
        <p:spPr>
          <a:xfrm>
            <a:off x="61722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C754AF53-533D-3745-8408-FCE0BC60DA3D}"/>
              </a:ext>
            </a:extLst>
          </p:cNvPr>
          <p:cNvSpPr/>
          <p:nvPr/>
        </p:nvSpPr>
        <p:spPr>
          <a:xfrm>
            <a:off x="6807200" y="1460500"/>
            <a:ext cx="381000" cy="381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B8E435F-053C-994A-A29D-ECEB397F4902}"/>
              </a:ext>
            </a:extLst>
          </p:cNvPr>
          <p:cNvSpPr txBox="1"/>
          <p:nvPr/>
        </p:nvSpPr>
        <p:spPr>
          <a:xfrm>
            <a:off x="62357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응답 수신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E205FA-82B7-D249-ADCE-34C753EBD835}"/>
              </a:ext>
            </a:extLst>
          </p:cNvPr>
          <p:cNvSpPr txBox="1"/>
          <p:nvPr/>
        </p:nvSpPr>
        <p:spPr>
          <a:xfrm>
            <a:off x="62357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모기지 전문가
경쟁 응답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3A9E8176-C6E3-8748-84B0-8F3FF582AF5D}"/>
              </a:ext>
            </a:extLst>
          </p:cNvPr>
          <p:cNvSpPr/>
          <p:nvPr/>
        </p:nvSpPr>
        <p:spPr>
          <a:xfrm>
            <a:off x="78359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937CF070-8CD4-FE4C-A61D-21E432A506CB}"/>
              </a:ext>
            </a:extLst>
          </p:cNvPr>
          <p:cNvSpPr/>
          <p:nvPr/>
        </p:nvSpPr>
        <p:spPr>
          <a:xfrm>
            <a:off x="79756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29940253-1157-D545-B5BD-CD75CA49A05C}"/>
              </a:ext>
            </a:extLst>
          </p:cNvPr>
          <p:cNvSpPr/>
          <p:nvPr/>
        </p:nvSpPr>
        <p:spPr>
          <a:xfrm>
            <a:off x="8610600" y="1460500"/>
            <a:ext cx="381000" cy="381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D4D378C-84C6-7042-86BB-0BFC6F6551A1}"/>
              </a:ext>
            </a:extLst>
          </p:cNvPr>
          <p:cNvSpPr txBox="1"/>
          <p:nvPr/>
        </p:nvSpPr>
        <p:spPr>
          <a:xfrm>
            <a:off x="80391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비교</a:t>
            </a:r>
            <a:r>
              <a:rPr lang="en-US" altLang="ko-KR" sz="1400" b="1">
                <a:solidFill>
                  <a:srgbClr val="0F1729"/>
                </a:solidFill>
              </a:rPr>
              <a:t>·</a:t>
            </a:r>
            <a:r>
              <a:rPr lang="ko-KR" altLang="en-US" sz="1400" b="1">
                <a:solidFill>
                  <a:srgbClr val="0F1729"/>
                </a:solidFill>
              </a:rPr>
              <a:t>채팅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F647EC-21AB-D04B-8892-89B8D5BC1D82}"/>
              </a:ext>
            </a:extLst>
          </p:cNvPr>
          <p:cNvSpPr txBox="1"/>
          <p:nvPr/>
        </p:nvSpPr>
        <p:spPr>
          <a:xfrm>
            <a:off x="80391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플랫폼 내
실시간 메시징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29" name="오른쪽 화살표[R] 28">
            <a:extLst>
              <a:ext uri="{FF2B5EF4-FFF2-40B4-BE49-F238E27FC236}">
                <a16:creationId xmlns:a16="http://schemas.microsoft.com/office/drawing/2014/main" id="{34058FB6-6C42-964A-A132-DE49DD57DCD4}"/>
              </a:ext>
            </a:extLst>
          </p:cNvPr>
          <p:cNvSpPr/>
          <p:nvPr/>
        </p:nvSpPr>
        <p:spPr>
          <a:xfrm>
            <a:off x="96393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C91F6942-0E81-2247-A800-7DDE2183D6E0}"/>
              </a:ext>
            </a:extLst>
          </p:cNvPr>
          <p:cNvSpPr/>
          <p:nvPr/>
        </p:nvSpPr>
        <p:spPr>
          <a:xfrm>
            <a:off x="97790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3C88E14E-82A6-D54F-8748-E13662A07FAF}"/>
              </a:ext>
            </a:extLst>
          </p:cNvPr>
          <p:cNvSpPr/>
          <p:nvPr/>
        </p:nvSpPr>
        <p:spPr>
          <a:xfrm>
            <a:off x="10414000" y="1460500"/>
            <a:ext cx="381000" cy="381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0F1729"/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448FAF-FE37-964D-813F-F0202D9982EF}"/>
              </a:ext>
            </a:extLst>
          </p:cNvPr>
          <p:cNvSpPr txBox="1"/>
          <p:nvPr/>
        </p:nvSpPr>
        <p:spPr>
          <a:xfrm>
            <a:off x="98425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연결 선택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BF80929-BE5F-F44E-9AE7-6EB332E33AB8}"/>
              </a:ext>
            </a:extLst>
          </p:cNvPr>
          <p:cNvSpPr txBox="1"/>
          <p:nvPr/>
        </p:nvSpPr>
        <p:spPr>
          <a:xfrm>
            <a:off x="98425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준비됐을 때만
직접 연결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17A90C0B-84A4-9941-8237-2BE53DFBE59C}"/>
              </a:ext>
            </a:extLst>
          </p:cNvPr>
          <p:cNvSpPr/>
          <p:nvPr/>
        </p:nvSpPr>
        <p:spPr>
          <a:xfrm>
            <a:off x="762000" y="3302000"/>
            <a:ext cx="10668000" cy="24130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9F4C27-C4FD-7343-9F56-C83D960CF661}"/>
              </a:ext>
            </a:extLst>
          </p:cNvPr>
          <p:cNvSpPr txBox="1"/>
          <p:nvPr/>
        </p:nvSpPr>
        <p:spPr>
          <a:xfrm>
            <a:off x="1079500" y="3492500"/>
            <a:ext cx="381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D4A853"/>
                </a:solidFill>
              </a:rPr>
              <a:t>핵심 포인트</a:t>
            </a:r>
            <a:endParaRPr lang="ko-US" sz="1600" b="1">
              <a:solidFill>
                <a:srgbClr val="D4A853"/>
              </a:solidFill>
            </a:endParaRPr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F6DDA8C3-0007-C84E-87DB-DC6D55111555}"/>
              </a:ext>
            </a:extLst>
          </p:cNvPr>
          <p:cNvSpPr/>
          <p:nvPr/>
        </p:nvSpPr>
        <p:spPr>
          <a:xfrm>
            <a:off x="1079500" y="39878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E4246CC-FD5B-3F49-9F6E-DE0633B8785B}"/>
              </a:ext>
            </a:extLst>
          </p:cNvPr>
          <p:cNvSpPr txBox="1"/>
          <p:nvPr/>
        </p:nvSpPr>
        <p:spPr>
          <a:xfrm>
            <a:off x="1295400" y="39370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무료 사용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A64D20D-71DE-3A44-979C-1CB6A2FE4C09}"/>
              </a:ext>
            </a:extLst>
          </p:cNvPr>
          <p:cNvSpPr txBox="1"/>
          <p:nvPr/>
        </p:nvSpPr>
        <p:spPr>
          <a:xfrm>
            <a:off x="3048000" y="39370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모기지 신청자는 플랫폼 이용에 비용이 없습니다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58C4FC40-1B1E-9545-9F6A-96D47A2F4CAF}"/>
              </a:ext>
            </a:extLst>
          </p:cNvPr>
          <p:cNvSpPr/>
          <p:nvPr/>
        </p:nvSpPr>
        <p:spPr>
          <a:xfrm>
            <a:off x="1079500" y="44704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2B73F98-674D-1D4E-B4BF-69FF2EF67670}"/>
              </a:ext>
            </a:extLst>
          </p:cNvPr>
          <p:cNvSpPr txBox="1"/>
          <p:nvPr/>
        </p:nvSpPr>
        <p:spPr>
          <a:xfrm>
            <a:off x="1295400" y="44196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연락처 비공개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460F776-8732-A947-8358-67FAF14AED6B}"/>
              </a:ext>
            </a:extLst>
          </p:cNvPr>
          <p:cNvSpPr txBox="1"/>
          <p:nvPr/>
        </p:nvSpPr>
        <p:spPr>
          <a:xfrm>
            <a:off x="3048000" y="44196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기본 요청 열람 및 메시징에서 직접 연락처가 자동 공개되지 않습니다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FA34EF4-CCB2-3548-B961-F71AC8297C26}"/>
              </a:ext>
            </a:extLst>
          </p:cNvPr>
          <p:cNvSpPr/>
          <p:nvPr/>
        </p:nvSpPr>
        <p:spPr>
          <a:xfrm>
            <a:off x="1079500" y="49530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981E688-ACA9-AF4A-8720-0FD61445D05F}"/>
              </a:ext>
            </a:extLst>
          </p:cNvPr>
          <p:cNvSpPr txBox="1"/>
          <p:nvPr/>
        </p:nvSpPr>
        <p:spPr>
          <a:xfrm>
            <a:off x="1295400" y="49022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주거용 </a:t>
            </a:r>
            <a:r>
              <a:rPr lang="en-US" altLang="ko-KR" sz="1400" b="1">
                <a:solidFill>
                  <a:srgbClr val="D4A853"/>
                </a:solidFill>
              </a:rPr>
              <a:t>+ </a:t>
            </a:r>
            <a:r>
              <a:rPr lang="ko-KR" altLang="en-US" sz="1400" b="1">
                <a:solidFill>
                  <a:srgbClr val="D4A853"/>
                </a:solidFill>
              </a:rPr>
              <a:t>상업용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772A469-C1D6-1C44-A625-D17D1EE64927}"/>
              </a:ext>
            </a:extLst>
          </p:cNvPr>
          <p:cNvSpPr txBox="1"/>
          <p:nvPr/>
        </p:nvSpPr>
        <p:spPr>
          <a:xfrm>
            <a:off x="3048000" y="49022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8F7F4"/>
                </a:solidFill>
              </a:rPr>
              <a:t>Residential</a:t>
            </a:r>
            <a:r>
              <a:rPr lang="ko-KR" altLang="en-US" sz="1400">
                <a:solidFill>
                  <a:srgbClr val="F8F7F4"/>
                </a:solidFill>
              </a:rPr>
              <a:t>과 </a:t>
            </a:r>
            <a:r>
              <a:rPr lang="en-US" sz="1400">
                <a:solidFill>
                  <a:srgbClr val="F8F7F4"/>
                </a:solidFill>
              </a:rPr>
              <a:t>Commercial </a:t>
            </a:r>
            <a:r>
              <a:rPr lang="ko-KR" altLang="en-US" sz="1400">
                <a:solidFill>
                  <a:srgbClr val="F8F7F4"/>
                </a:solidFill>
              </a:rPr>
              <a:t>모기지 요청을 모두 지원합니다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25580F58-D0CB-7647-BFAF-970C97214D78}"/>
              </a:ext>
            </a:extLst>
          </p:cNvPr>
          <p:cNvSpPr/>
          <p:nvPr/>
        </p:nvSpPr>
        <p:spPr>
          <a:xfrm>
            <a:off x="1079500" y="54356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2E85190-4877-E648-8B09-2AF36728AFC5}"/>
              </a:ext>
            </a:extLst>
          </p:cNvPr>
          <p:cNvSpPr txBox="1"/>
          <p:nvPr/>
        </p:nvSpPr>
        <p:spPr>
          <a:xfrm>
            <a:off x="1295400" y="5384800"/>
            <a:ext cx="165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실시간 메시징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9F2D84-D223-DB41-81B9-0700B5A72EB4}"/>
              </a:ext>
            </a:extLst>
          </p:cNvPr>
          <p:cNvSpPr txBox="1"/>
          <p:nvPr/>
        </p:nvSpPr>
        <p:spPr>
          <a:xfrm>
            <a:off x="3048000" y="5384800"/>
            <a:ext cx="812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F8F7F4"/>
                </a:solidFill>
              </a:rPr>
              <a:t>Supabase </a:t>
            </a:r>
            <a:r>
              <a:rPr lang="ko-KR" altLang="en-US" sz="1400">
                <a:solidFill>
                  <a:srgbClr val="F8F7F4"/>
                </a:solidFill>
              </a:rPr>
              <a:t>기반 실시간 채팅으로 모기지 전문가와 소통합니다</a:t>
            </a:r>
            <a:endParaRPr lang="ko-US" sz="1400">
              <a:solidFill>
                <a:srgbClr val="F8F7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7522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1512249-6B92-FB47-9D17-30C7CF350235}"/>
              </a:ext>
            </a:extLst>
          </p:cNvPr>
          <p:cNvSpPr txBox="1"/>
          <p:nvPr/>
        </p:nvSpPr>
        <p:spPr>
          <a:xfrm>
            <a:off x="762000" y="317500"/>
            <a:ext cx="5715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MORTGAGE PROFESSIONAL JOURNEY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DF118AB-A844-2B42-8D97-59C98C8C1FE3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35F0A8-7A53-E341-B619-0B36B60D73AF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모기지 전문가 여정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검증 → 탐색 → 응답 → 성장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FD36B0DD-B316-7A4F-8161-E5FAC361E311}"/>
              </a:ext>
            </a:extLst>
          </p:cNvPr>
          <p:cNvSpPr/>
          <p:nvPr/>
        </p:nvSpPr>
        <p:spPr>
          <a:xfrm>
            <a:off x="7620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009F73FC-07C3-DF4C-911E-B6039BAB8872}"/>
              </a:ext>
            </a:extLst>
          </p:cNvPr>
          <p:cNvSpPr/>
          <p:nvPr/>
        </p:nvSpPr>
        <p:spPr>
          <a:xfrm>
            <a:off x="1397000" y="1460500"/>
            <a:ext cx="381000" cy="3810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D4A853"/>
                </a:solidFill>
              </a:rPr>
              <a:t>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766F1F-E5C4-164A-8AE5-737A70AE7DC8}"/>
              </a:ext>
            </a:extLst>
          </p:cNvPr>
          <p:cNvSpPr txBox="1"/>
          <p:nvPr/>
        </p:nvSpPr>
        <p:spPr>
          <a:xfrm>
            <a:off x="8255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회원가입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0B2110-2D31-C34C-97AE-1FF12DE75145}"/>
              </a:ext>
            </a:extLst>
          </p:cNvPr>
          <p:cNvSpPr txBox="1"/>
          <p:nvPr/>
        </p:nvSpPr>
        <p:spPr>
          <a:xfrm>
            <a:off x="8255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모기지 전문가
전용 가입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9" name="오른쪽 화살표[R] 8">
            <a:extLst>
              <a:ext uri="{FF2B5EF4-FFF2-40B4-BE49-F238E27FC236}">
                <a16:creationId xmlns:a16="http://schemas.microsoft.com/office/drawing/2014/main" id="{37C2D0AB-936F-D741-B8F8-0046262A4905}"/>
              </a:ext>
            </a:extLst>
          </p:cNvPr>
          <p:cNvSpPr/>
          <p:nvPr/>
        </p:nvSpPr>
        <p:spPr>
          <a:xfrm>
            <a:off x="24257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BE3F1A44-F77A-FB47-8D07-0C1BF3996575}"/>
              </a:ext>
            </a:extLst>
          </p:cNvPr>
          <p:cNvSpPr/>
          <p:nvPr/>
        </p:nvSpPr>
        <p:spPr>
          <a:xfrm>
            <a:off x="25654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00B7070D-239C-DF42-9860-76E2F96D2D96}"/>
              </a:ext>
            </a:extLst>
          </p:cNvPr>
          <p:cNvSpPr/>
          <p:nvPr/>
        </p:nvSpPr>
        <p:spPr>
          <a:xfrm>
            <a:off x="3200400" y="1460500"/>
            <a:ext cx="381000" cy="3810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D4A853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1BAB04-A042-AC46-8519-8F5B77FFC8E9}"/>
              </a:ext>
            </a:extLst>
          </p:cNvPr>
          <p:cNvSpPr txBox="1"/>
          <p:nvPr/>
        </p:nvSpPr>
        <p:spPr>
          <a:xfrm>
            <a:off x="26289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프로필 작성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B877DC9-2202-9946-92B2-D59D81CB0B4F}"/>
              </a:ext>
            </a:extLst>
          </p:cNvPr>
          <p:cNvSpPr txBox="1"/>
          <p:nvPr/>
        </p:nvSpPr>
        <p:spPr>
          <a:xfrm>
            <a:off x="26289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업체</a:t>
            </a:r>
            <a:r>
              <a:rPr lang="en-US" altLang="ko-KR" sz="1100">
                <a:solidFill>
                  <a:srgbClr val="576285"/>
                </a:solidFill>
              </a:rPr>
              <a:t>·</a:t>
            </a:r>
            <a:r>
              <a:rPr lang="ko-KR" altLang="en-US" sz="1100">
                <a:solidFill>
                  <a:srgbClr val="576285"/>
                </a:solidFill>
              </a:rPr>
              <a:t>라이선스
경력</a:t>
            </a:r>
            <a:r>
              <a:rPr lang="en-US" altLang="ko-KR" sz="1100">
                <a:solidFill>
                  <a:srgbClr val="576285"/>
                </a:solidFill>
              </a:rPr>
              <a:t>·</a:t>
            </a:r>
            <a:r>
              <a:rPr lang="ko-KR" altLang="en-US" sz="1100">
                <a:solidFill>
                  <a:srgbClr val="576285"/>
                </a:solidFill>
              </a:rPr>
              <a:t>전문분야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14" name="오른쪽 화살표[R] 13">
            <a:extLst>
              <a:ext uri="{FF2B5EF4-FFF2-40B4-BE49-F238E27FC236}">
                <a16:creationId xmlns:a16="http://schemas.microsoft.com/office/drawing/2014/main" id="{5E62C6C6-CE3F-A544-AFFF-1E210D9C3847}"/>
              </a:ext>
            </a:extLst>
          </p:cNvPr>
          <p:cNvSpPr/>
          <p:nvPr/>
        </p:nvSpPr>
        <p:spPr>
          <a:xfrm>
            <a:off x="42291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D74BF557-67B4-4B4F-8462-8F04B7DD5154}"/>
              </a:ext>
            </a:extLst>
          </p:cNvPr>
          <p:cNvSpPr/>
          <p:nvPr/>
        </p:nvSpPr>
        <p:spPr>
          <a:xfrm>
            <a:off x="43688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0836332-FEC8-CA4C-B7FE-BEACBC7C4D0A}"/>
              </a:ext>
            </a:extLst>
          </p:cNvPr>
          <p:cNvSpPr/>
          <p:nvPr/>
        </p:nvSpPr>
        <p:spPr>
          <a:xfrm>
            <a:off x="5003800" y="1460500"/>
            <a:ext cx="381000" cy="3810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D4A853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C7F392-B281-494C-8224-7BC7F3FB49FB}"/>
              </a:ext>
            </a:extLst>
          </p:cNvPr>
          <p:cNvSpPr txBox="1"/>
          <p:nvPr/>
        </p:nvSpPr>
        <p:spPr>
          <a:xfrm>
            <a:off x="44323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관리자 검증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DE5DB42-A61E-C646-96F4-117990448E12}"/>
              </a:ext>
            </a:extLst>
          </p:cNvPr>
          <p:cNvSpPr txBox="1"/>
          <p:nvPr/>
        </p:nvSpPr>
        <p:spPr>
          <a:xfrm>
            <a:off x="44323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76285"/>
                </a:solidFill>
              </a:rPr>
              <a:t>VERIFIED </a:t>
            </a:r>
            <a:r>
              <a:rPr lang="ko-KR" altLang="en-US" sz="1100">
                <a:solidFill>
                  <a:srgbClr val="576285"/>
                </a:solidFill>
              </a:rPr>
              <a:t>후
요청 열람 가능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19" name="오른쪽 화살표[R] 18">
            <a:extLst>
              <a:ext uri="{FF2B5EF4-FFF2-40B4-BE49-F238E27FC236}">
                <a16:creationId xmlns:a16="http://schemas.microsoft.com/office/drawing/2014/main" id="{30DE9DF9-A98E-DE4B-A4F3-52397ED5A594}"/>
              </a:ext>
            </a:extLst>
          </p:cNvPr>
          <p:cNvSpPr/>
          <p:nvPr/>
        </p:nvSpPr>
        <p:spPr>
          <a:xfrm>
            <a:off x="60325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975C1CB0-F782-CC4F-903B-65ABF6D5D7EE}"/>
              </a:ext>
            </a:extLst>
          </p:cNvPr>
          <p:cNvSpPr/>
          <p:nvPr/>
        </p:nvSpPr>
        <p:spPr>
          <a:xfrm>
            <a:off x="61722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D1ED2105-DFF8-4F4E-9223-59B52420E275}"/>
              </a:ext>
            </a:extLst>
          </p:cNvPr>
          <p:cNvSpPr/>
          <p:nvPr/>
        </p:nvSpPr>
        <p:spPr>
          <a:xfrm>
            <a:off x="6807200" y="1460500"/>
            <a:ext cx="381000" cy="3810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D4A853"/>
                </a:solidFill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794B600-FE3A-E346-9EA6-523DB12FBDFC}"/>
              </a:ext>
            </a:extLst>
          </p:cNvPr>
          <p:cNvSpPr txBox="1"/>
          <p:nvPr/>
        </p:nvSpPr>
        <p:spPr>
          <a:xfrm>
            <a:off x="62357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요청 탐색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968C0E-4D25-5149-8D54-E0F33F552AF2}"/>
              </a:ext>
            </a:extLst>
          </p:cNvPr>
          <p:cNvSpPr txBox="1"/>
          <p:nvPr/>
        </p:nvSpPr>
        <p:spPr>
          <a:xfrm>
            <a:off x="62357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필터링으로
</a:t>
            </a:r>
            <a:r>
              <a:rPr lang="en-US" sz="1100">
                <a:solidFill>
                  <a:srgbClr val="576285"/>
                </a:solidFill>
              </a:rPr>
              <a:t>OPEN </a:t>
            </a:r>
            <a:r>
              <a:rPr lang="ko-KR" altLang="en-US" sz="1100">
                <a:solidFill>
                  <a:srgbClr val="576285"/>
                </a:solidFill>
              </a:rPr>
              <a:t>요청 탐색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24" name="오른쪽 화살표[R] 23">
            <a:extLst>
              <a:ext uri="{FF2B5EF4-FFF2-40B4-BE49-F238E27FC236}">
                <a16:creationId xmlns:a16="http://schemas.microsoft.com/office/drawing/2014/main" id="{3257BBD2-2631-AE46-8AD8-275B8AE0D3A4}"/>
              </a:ext>
            </a:extLst>
          </p:cNvPr>
          <p:cNvSpPr/>
          <p:nvPr/>
        </p:nvSpPr>
        <p:spPr>
          <a:xfrm>
            <a:off x="78359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5E44E1DA-088E-B944-9984-675DF4A925CF}"/>
              </a:ext>
            </a:extLst>
          </p:cNvPr>
          <p:cNvSpPr/>
          <p:nvPr/>
        </p:nvSpPr>
        <p:spPr>
          <a:xfrm>
            <a:off x="79756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6" name="타원 25">
            <a:extLst>
              <a:ext uri="{FF2B5EF4-FFF2-40B4-BE49-F238E27FC236}">
                <a16:creationId xmlns:a16="http://schemas.microsoft.com/office/drawing/2014/main" id="{7D7B737E-B330-DD4C-83F1-955B0497721E}"/>
              </a:ext>
            </a:extLst>
          </p:cNvPr>
          <p:cNvSpPr/>
          <p:nvPr/>
        </p:nvSpPr>
        <p:spPr>
          <a:xfrm>
            <a:off x="8610600" y="1460500"/>
            <a:ext cx="381000" cy="3810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D4A853"/>
                </a:solidFill>
              </a:rPr>
              <a:t>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8155582-23FC-174A-902B-04118068B258}"/>
              </a:ext>
            </a:extLst>
          </p:cNvPr>
          <p:cNvSpPr txBox="1"/>
          <p:nvPr/>
        </p:nvSpPr>
        <p:spPr>
          <a:xfrm>
            <a:off x="80391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응답</a:t>
            </a:r>
            <a:r>
              <a:rPr lang="en-US" altLang="ko-KR" sz="1400" b="1">
                <a:solidFill>
                  <a:srgbClr val="0F1729"/>
                </a:solidFill>
              </a:rPr>
              <a:t>·</a:t>
            </a:r>
            <a:r>
              <a:rPr lang="ko-KR" altLang="en-US" sz="1400" b="1">
                <a:solidFill>
                  <a:srgbClr val="0F1729"/>
                </a:solidFill>
              </a:rPr>
              <a:t>대화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3340B-B3BA-FF43-97DE-0BD9BA14B016}"/>
              </a:ext>
            </a:extLst>
          </p:cNvPr>
          <p:cNvSpPr txBox="1"/>
          <p:nvPr/>
        </p:nvSpPr>
        <p:spPr>
          <a:xfrm>
            <a:off x="80391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크레딧 사용
고객 메시징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29" name="오른쪽 화살표[R] 28">
            <a:extLst>
              <a:ext uri="{FF2B5EF4-FFF2-40B4-BE49-F238E27FC236}">
                <a16:creationId xmlns:a16="http://schemas.microsoft.com/office/drawing/2014/main" id="{EB7D2E81-7B57-8345-98FF-48405A23AEFF}"/>
              </a:ext>
            </a:extLst>
          </p:cNvPr>
          <p:cNvSpPr/>
          <p:nvPr/>
        </p:nvSpPr>
        <p:spPr>
          <a:xfrm>
            <a:off x="9639300" y="2082800"/>
            <a:ext cx="127000" cy="1524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2678DF14-4220-F54A-B58D-C7AF814AFDB6}"/>
              </a:ext>
            </a:extLst>
          </p:cNvPr>
          <p:cNvSpPr/>
          <p:nvPr/>
        </p:nvSpPr>
        <p:spPr>
          <a:xfrm>
            <a:off x="9779000" y="1333500"/>
            <a:ext cx="1651000" cy="1651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4A10CE26-D5C1-EB40-9170-CBA4D47711CC}"/>
              </a:ext>
            </a:extLst>
          </p:cNvPr>
          <p:cNvSpPr/>
          <p:nvPr/>
        </p:nvSpPr>
        <p:spPr>
          <a:xfrm>
            <a:off x="10414000" y="1460500"/>
            <a:ext cx="381000" cy="381000"/>
          </a:xfrm>
          <a:prstGeom prst="ellipse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400" b="1">
                <a:solidFill>
                  <a:srgbClr val="D4A853"/>
                </a:solidFill>
              </a:rPr>
              <a:t>6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18A380F-20E7-F74D-85DA-CDEAF37324D6}"/>
              </a:ext>
            </a:extLst>
          </p:cNvPr>
          <p:cNvSpPr txBox="1"/>
          <p:nvPr/>
        </p:nvSpPr>
        <p:spPr>
          <a:xfrm>
            <a:off x="9842500" y="1943100"/>
            <a:ext cx="152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관계 구축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EECCA40-8869-D54B-9E0A-033DD2F3ED15}"/>
              </a:ext>
            </a:extLst>
          </p:cNvPr>
          <p:cNvSpPr txBox="1"/>
          <p:nvPr/>
        </p:nvSpPr>
        <p:spPr>
          <a:xfrm>
            <a:off x="9842500" y="2286000"/>
            <a:ext cx="1524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100">
                <a:solidFill>
                  <a:srgbClr val="576285"/>
                </a:solidFill>
              </a:rPr>
              <a:t>후속 관리
비즈니스 성장</a:t>
            </a:r>
            <a:endParaRPr lang="ko-US" sz="1100">
              <a:solidFill>
                <a:srgbClr val="576285"/>
              </a:solidFill>
            </a:endParaRPr>
          </a:p>
        </p:txBody>
      </p:sp>
      <p:sp>
        <p:nvSpPr>
          <p:cNvPr id="34" name="모서리가 둥근 직사각형 33">
            <a:extLst>
              <a:ext uri="{FF2B5EF4-FFF2-40B4-BE49-F238E27FC236}">
                <a16:creationId xmlns:a16="http://schemas.microsoft.com/office/drawing/2014/main" id="{FD7F3D37-97F4-7C46-8512-A7D80B729C9E}"/>
              </a:ext>
            </a:extLst>
          </p:cNvPr>
          <p:cNvSpPr/>
          <p:nvPr/>
        </p:nvSpPr>
        <p:spPr>
          <a:xfrm>
            <a:off x="762000" y="3365500"/>
            <a:ext cx="10668000" cy="241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622C377-7AE8-D448-9D23-E059755EC36C}"/>
              </a:ext>
            </a:extLst>
          </p:cNvPr>
          <p:cNvSpPr txBox="1"/>
          <p:nvPr/>
        </p:nvSpPr>
        <p:spPr>
          <a:xfrm>
            <a:off x="1079500" y="3517900"/>
            <a:ext cx="5080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0F1729"/>
                </a:solidFill>
              </a:rPr>
              <a:t>구독 티어별 접근 권한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73FAEB1-F4EB-A549-9AA7-B839BB53002A}"/>
              </a:ext>
            </a:extLst>
          </p:cNvPr>
          <p:cNvSpPr/>
          <p:nvPr/>
        </p:nvSpPr>
        <p:spPr>
          <a:xfrm>
            <a:off x="952500" y="3975100"/>
            <a:ext cx="2413000" cy="1714500"/>
          </a:xfrm>
          <a:prstGeom prst="roundRect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FD3B6DB-2C0D-2C40-90C3-2C219AA33235}"/>
              </a:ext>
            </a:extLst>
          </p:cNvPr>
          <p:cNvSpPr txBox="1"/>
          <p:nvPr/>
        </p:nvSpPr>
        <p:spPr>
          <a:xfrm>
            <a:off x="1079500" y="41021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FREE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D740D1F-7AA5-B647-9B23-653A5566573A}"/>
              </a:ext>
            </a:extLst>
          </p:cNvPr>
          <p:cNvSpPr txBox="1"/>
          <p:nvPr/>
        </p:nvSpPr>
        <p:spPr>
          <a:xfrm>
            <a:off x="1079500" y="44831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US" sz="2400" b="1">
                <a:solidFill>
                  <a:srgbClr val="F8F7F4"/>
                </a:solidFill>
              </a:rPr>
              <a:t>$0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83674BEB-2CDC-6C4A-BA52-788B0D638FDD}"/>
              </a:ext>
            </a:extLst>
          </p:cNvPr>
          <p:cNvSpPr txBox="1"/>
          <p:nvPr/>
        </p:nvSpPr>
        <p:spPr>
          <a:xfrm>
            <a:off x="1079500" y="50165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열람만 가능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0D3B8AD9-93B4-9545-9DF6-B78ADA2D07F4}"/>
              </a:ext>
            </a:extLst>
          </p:cNvPr>
          <p:cNvSpPr/>
          <p:nvPr/>
        </p:nvSpPr>
        <p:spPr>
          <a:xfrm>
            <a:off x="3530600" y="3975100"/>
            <a:ext cx="2413000" cy="1714500"/>
          </a:xfrm>
          <a:prstGeom prst="roundRect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6A66640-7F41-9343-97E0-8E5C3FBCFB31}"/>
              </a:ext>
            </a:extLst>
          </p:cNvPr>
          <p:cNvSpPr txBox="1"/>
          <p:nvPr/>
        </p:nvSpPr>
        <p:spPr>
          <a:xfrm>
            <a:off x="3657600" y="41021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BASIC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FE8E5509-8F7F-AB4D-899F-285812FF8C4C}"/>
              </a:ext>
            </a:extLst>
          </p:cNvPr>
          <p:cNvSpPr txBox="1"/>
          <p:nvPr/>
        </p:nvSpPr>
        <p:spPr>
          <a:xfrm>
            <a:off x="3657600" y="44831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F8F7F4"/>
                </a:solidFill>
              </a:rPr>
              <a:t>$29/</a:t>
            </a:r>
            <a:r>
              <a:rPr lang="ko-KR" altLang="en-US" sz="2400" b="1">
                <a:solidFill>
                  <a:srgbClr val="F8F7F4"/>
                </a:solidFill>
              </a:rPr>
              <a:t>월</a:t>
            </a:r>
            <a:endParaRPr lang="ko-US" sz="2400" b="1">
              <a:solidFill>
                <a:srgbClr val="F8F7F4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26E6FE2C-F123-D946-90F1-DF9E65873654}"/>
              </a:ext>
            </a:extLst>
          </p:cNvPr>
          <p:cNvSpPr txBox="1"/>
          <p:nvPr/>
        </p:nvSpPr>
        <p:spPr>
          <a:xfrm>
            <a:off x="3657600" y="50165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월 </a:t>
            </a:r>
            <a:r>
              <a:rPr lang="en-US" altLang="ko-KR" sz="1400">
                <a:solidFill>
                  <a:srgbClr val="F8F7F4"/>
                </a:solidFill>
              </a:rPr>
              <a:t>5 </a:t>
            </a:r>
            <a:r>
              <a:rPr lang="ko-KR" altLang="en-US" sz="1400">
                <a:solidFill>
                  <a:srgbClr val="F8F7F4"/>
                </a:solidFill>
              </a:rPr>
              <a:t>응답 크레딧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3DD96820-B893-A849-9C97-B024A7392E99}"/>
              </a:ext>
            </a:extLst>
          </p:cNvPr>
          <p:cNvSpPr/>
          <p:nvPr/>
        </p:nvSpPr>
        <p:spPr>
          <a:xfrm>
            <a:off x="6108700" y="3975100"/>
            <a:ext cx="2413000" cy="1714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CE2FABD-9864-A246-8774-281AA66F2C30}"/>
              </a:ext>
            </a:extLst>
          </p:cNvPr>
          <p:cNvSpPr txBox="1"/>
          <p:nvPr/>
        </p:nvSpPr>
        <p:spPr>
          <a:xfrm>
            <a:off x="6235700" y="41021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PRO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227B14F-D221-4744-BD6E-9C6C2E917571}"/>
              </a:ext>
            </a:extLst>
          </p:cNvPr>
          <p:cNvSpPr txBox="1"/>
          <p:nvPr/>
        </p:nvSpPr>
        <p:spPr>
          <a:xfrm>
            <a:off x="6235700" y="44831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F8F7F4"/>
                </a:solidFill>
              </a:rPr>
              <a:t>$69/</a:t>
            </a:r>
            <a:r>
              <a:rPr lang="ko-KR" altLang="en-US" sz="2400" b="1">
                <a:solidFill>
                  <a:srgbClr val="F8F7F4"/>
                </a:solidFill>
              </a:rPr>
              <a:t>월</a:t>
            </a:r>
            <a:endParaRPr lang="ko-US" sz="2400" b="1">
              <a:solidFill>
                <a:srgbClr val="F8F7F4"/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2908BD3-2C83-EE45-A12F-B887D31A362F}"/>
              </a:ext>
            </a:extLst>
          </p:cNvPr>
          <p:cNvSpPr txBox="1"/>
          <p:nvPr/>
        </p:nvSpPr>
        <p:spPr>
          <a:xfrm>
            <a:off x="6235700" y="50165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월 </a:t>
            </a:r>
            <a:r>
              <a:rPr lang="en-US" altLang="ko-KR" sz="1400">
                <a:solidFill>
                  <a:srgbClr val="F8F7F4"/>
                </a:solidFill>
              </a:rPr>
              <a:t>20 </a:t>
            </a:r>
            <a:r>
              <a:rPr lang="ko-KR" altLang="en-US" sz="1400">
                <a:solidFill>
                  <a:srgbClr val="F8F7F4"/>
                </a:solidFill>
              </a:rPr>
              <a:t>응답 크레딧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48" name="모서리가 둥근 직사각형 47">
            <a:extLst>
              <a:ext uri="{FF2B5EF4-FFF2-40B4-BE49-F238E27FC236}">
                <a16:creationId xmlns:a16="http://schemas.microsoft.com/office/drawing/2014/main" id="{88B25BF9-FE20-0F4C-BBAF-377DD9800F22}"/>
              </a:ext>
            </a:extLst>
          </p:cNvPr>
          <p:cNvSpPr/>
          <p:nvPr/>
        </p:nvSpPr>
        <p:spPr>
          <a:xfrm>
            <a:off x="8686800" y="3975100"/>
            <a:ext cx="2413000" cy="17145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9E0EB24-70D6-6C41-B234-E5768B84D00F}"/>
              </a:ext>
            </a:extLst>
          </p:cNvPr>
          <p:cNvSpPr txBox="1"/>
          <p:nvPr/>
        </p:nvSpPr>
        <p:spPr>
          <a:xfrm>
            <a:off x="8813800" y="4102100"/>
            <a:ext cx="215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PREMIUM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53D5BE-BBF6-A14F-AB2C-9BFC89BCBDD9}"/>
              </a:ext>
            </a:extLst>
          </p:cNvPr>
          <p:cNvSpPr txBox="1"/>
          <p:nvPr/>
        </p:nvSpPr>
        <p:spPr>
          <a:xfrm>
            <a:off x="8813800" y="4483100"/>
            <a:ext cx="21590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2400" b="1">
                <a:solidFill>
                  <a:srgbClr val="F8F7F4"/>
                </a:solidFill>
              </a:rPr>
              <a:t>$129/</a:t>
            </a:r>
            <a:r>
              <a:rPr lang="ko-KR" altLang="en-US" sz="2400" b="1">
                <a:solidFill>
                  <a:srgbClr val="F8F7F4"/>
                </a:solidFill>
              </a:rPr>
              <a:t>월</a:t>
            </a:r>
            <a:endParaRPr lang="ko-US" sz="2400" b="1">
              <a:solidFill>
                <a:srgbClr val="F8F7F4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07C4FBDE-98B8-334A-9CD5-F1E4E71C23EA}"/>
              </a:ext>
            </a:extLst>
          </p:cNvPr>
          <p:cNvSpPr txBox="1"/>
          <p:nvPr/>
        </p:nvSpPr>
        <p:spPr>
          <a:xfrm>
            <a:off x="8813800" y="5016500"/>
            <a:ext cx="2159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무제한 응답</a:t>
            </a:r>
            <a:endParaRPr lang="ko-US" sz="1400">
              <a:solidFill>
                <a:srgbClr val="F8F7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4783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29A075E-A795-C848-8B91-66C3B9FB4D87}"/>
              </a:ext>
            </a:extLst>
          </p:cNvPr>
          <p:cNvSpPr txBox="1"/>
          <p:nvPr/>
        </p:nvSpPr>
        <p:spPr>
          <a:xfrm>
            <a:off x="762000" y="3810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PRIVACY, TRUST &amp; SAFETY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E03975F9-806B-C549-B595-5B236CD7D6C0}"/>
              </a:ext>
            </a:extLst>
          </p:cNvPr>
          <p:cNvSpPr/>
          <p:nvPr/>
        </p:nvSpPr>
        <p:spPr>
          <a:xfrm>
            <a:off x="762000" y="7112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A46379-E225-B44B-A9A5-758751EC4A1E}"/>
              </a:ext>
            </a:extLst>
          </p:cNvPr>
          <p:cNvSpPr txBox="1"/>
          <p:nvPr/>
        </p:nvSpPr>
        <p:spPr>
          <a:xfrm>
            <a:off x="762000" y="825500"/>
            <a:ext cx="10668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F8F7F4"/>
                </a:solidFill>
              </a:rPr>
              <a:t>규제 산업에서 신뢰 계층 자체가 제품입니다</a:t>
            </a:r>
            <a:endParaRPr lang="ko-US" sz="2200" b="1">
              <a:solidFill>
                <a:srgbClr val="F8F7F4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CD92A8A-718B-C444-89F8-5990C5640230}"/>
              </a:ext>
            </a:extLst>
          </p:cNvPr>
          <p:cNvSpPr/>
          <p:nvPr/>
        </p:nvSpPr>
        <p:spPr>
          <a:xfrm>
            <a:off x="762000" y="1524000"/>
            <a:ext cx="3365500" cy="1841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7E35D98-5D01-9844-A530-42A30ABB321D}"/>
              </a:ext>
            </a:extLst>
          </p:cNvPr>
          <p:cNvSpPr/>
          <p:nvPr/>
        </p:nvSpPr>
        <p:spPr>
          <a:xfrm>
            <a:off x="762000" y="1651000"/>
            <a:ext cx="38100" cy="15875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42942-AADF-F947-8C14-9694B26EB115}"/>
              </a:ext>
            </a:extLst>
          </p:cNvPr>
          <p:cNvSpPr txBox="1"/>
          <p:nvPr/>
        </p:nvSpPr>
        <p:spPr>
          <a:xfrm>
            <a:off x="990600" y="1714500"/>
            <a:ext cx="298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연락처 비공개 기본값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B30472-FC4F-F74E-AD12-AF86E05ECDF9}"/>
              </a:ext>
            </a:extLst>
          </p:cNvPr>
          <p:cNvSpPr txBox="1"/>
          <p:nvPr/>
        </p:nvSpPr>
        <p:spPr>
          <a:xfrm>
            <a:off x="990600" y="2133600"/>
            <a:ext cx="2984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기본 요청 열람과 초기 메시징에서
직접 연락처가 자동 공개되지 않습니다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39F7D16A-4DEF-134E-948E-550DF83E3A27}"/>
              </a:ext>
            </a:extLst>
          </p:cNvPr>
          <p:cNvSpPr/>
          <p:nvPr/>
        </p:nvSpPr>
        <p:spPr>
          <a:xfrm>
            <a:off x="4318000" y="1524000"/>
            <a:ext cx="3365500" cy="1841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3292581-A720-4543-8024-EE0F1603F13E}"/>
              </a:ext>
            </a:extLst>
          </p:cNvPr>
          <p:cNvSpPr/>
          <p:nvPr/>
        </p:nvSpPr>
        <p:spPr>
          <a:xfrm>
            <a:off x="4318000" y="1651000"/>
            <a:ext cx="38100" cy="15875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4B8BA7-8544-E546-80EE-FA10B8DB5206}"/>
              </a:ext>
            </a:extLst>
          </p:cNvPr>
          <p:cNvSpPr txBox="1"/>
          <p:nvPr/>
        </p:nvSpPr>
        <p:spPr>
          <a:xfrm>
            <a:off x="4546600" y="1714500"/>
            <a:ext cx="298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모기지 전문가 검증 게이트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44860A-C823-4144-997E-E76CC872622C}"/>
              </a:ext>
            </a:extLst>
          </p:cNvPr>
          <p:cNvSpPr txBox="1"/>
          <p:nvPr/>
        </p:nvSpPr>
        <p:spPr>
          <a:xfrm>
            <a:off x="4546600" y="2133600"/>
            <a:ext cx="2984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관리자가 라이선스와 프로필을 확인한
</a:t>
            </a:r>
            <a:r>
              <a:rPr lang="en-US" sz="1200">
                <a:solidFill>
                  <a:srgbClr val="F8F7F4"/>
                </a:solidFill>
              </a:rPr>
              <a:t>VERIFIED </a:t>
            </a:r>
            <a:r>
              <a:rPr lang="ko-KR" altLang="en-US" sz="1200">
                <a:solidFill>
                  <a:srgbClr val="F8F7F4"/>
                </a:solidFill>
              </a:rPr>
              <a:t>모기지 전문가만 요청 접근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5537808C-D6D2-A542-96B7-CF23CB31710F}"/>
              </a:ext>
            </a:extLst>
          </p:cNvPr>
          <p:cNvSpPr/>
          <p:nvPr/>
        </p:nvSpPr>
        <p:spPr>
          <a:xfrm>
            <a:off x="7874000" y="1524000"/>
            <a:ext cx="3365500" cy="1841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C975EB5-44A1-C44D-88E5-D20F0738F61E}"/>
              </a:ext>
            </a:extLst>
          </p:cNvPr>
          <p:cNvSpPr/>
          <p:nvPr/>
        </p:nvSpPr>
        <p:spPr>
          <a:xfrm>
            <a:off x="7874000" y="1651000"/>
            <a:ext cx="38100" cy="15875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4D9C5D-5531-1845-B507-181267D9CE2E}"/>
              </a:ext>
            </a:extLst>
          </p:cNvPr>
          <p:cNvSpPr txBox="1"/>
          <p:nvPr/>
        </p:nvSpPr>
        <p:spPr>
          <a:xfrm>
            <a:off x="8102600" y="1714500"/>
            <a:ext cx="298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신고 시스템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6CC7AA2-27A5-AB47-BA9E-CEFF5A15A431}"/>
              </a:ext>
            </a:extLst>
          </p:cNvPr>
          <p:cNvSpPr txBox="1"/>
          <p:nvPr/>
        </p:nvSpPr>
        <p:spPr>
          <a:xfrm>
            <a:off x="8102600" y="2133600"/>
            <a:ext cx="2984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요청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모기지 전문가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대화에 대한
신고 및 관리자 대응 체계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6A26E26D-4CA5-AD47-A3F4-E3297CA15B49}"/>
              </a:ext>
            </a:extLst>
          </p:cNvPr>
          <p:cNvSpPr/>
          <p:nvPr/>
        </p:nvSpPr>
        <p:spPr>
          <a:xfrm>
            <a:off x="762000" y="3517900"/>
            <a:ext cx="3365500" cy="1841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C871600-7D97-4548-976D-7CE22A0A4FD6}"/>
              </a:ext>
            </a:extLst>
          </p:cNvPr>
          <p:cNvSpPr/>
          <p:nvPr/>
        </p:nvSpPr>
        <p:spPr>
          <a:xfrm>
            <a:off x="762000" y="3644900"/>
            <a:ext cx="38100" cy="15875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1DF61C3-EB5A-2442-A7BE-9D14A44A02BF}"/>
              </a:ext>
            </a:extLst>
          </p:cNvPr>
          <p:cNvSpPr txBox="1"/>
          <p:nvPr/>
        </p:nvSpPr>
        <p:spPr>
          <a:xfrm>
            <a:off x="990600" y="3708400"/>
            <a:ext cx="298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관리자 중재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B504B1-912C-FF46-9C96-1CF66C312CFE}"/>
              </a:ext>
            </a:extLst>
          </p:cNvPr>
          <p:cNvSpPr txBox="1"/>
          <p:nvPr/>
        </p:nvSpPr>
        <p:spPr>
          <a:xfrm>
            <a:off x="990600" y="4127500"/>
            <a:ext cx="2984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요청 승인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거절</a:t>
            </a:r>
            <a:r>
              <a:rPr lang="en-US" altLang="ko-KR" sz="1200">
                <a:solidFill>
                  <a:srgbClr val="F8F7F4"/>
                </a:solidFill>
              </a:rPr>
              <a:t>, </a:t>
            </a:r>
            <a:r>
              <a:rPr lang="ko-KR" altLang="en-US" sz="1200">
                <a:solidFill>
                  <a:srgbClr val="F8F7F4"/>
                </a:solidFill>
              </a:rPr>
              <a:t>모기지 전문가 검증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반려
사용자 정지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차단 등 운영 권한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59F80EC5-B84C-4840-B20F-C24BE5CB70D3}"/>
              </a:ext>
            </a:extLst>
          </p:cNvPr>
          <p:cNvSpPr/>
          <p:nvPr/>
        </p:nvSpPr>
        <p:spPr>
          <a:xfrm>
            <a:off x="4318000" y="3517900"/>
            <a:ext cx="3365500" cy="1841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7B90566-A408-DD4F-9CDD-B435A916A5DB}"/>
              </a:ext>
            </a:extLst>
          </p:cNvPr>
          <p:cNvSpPr/>
          <p:nvPr/>
        </p:nvSpPr>
        <p:spPr>
          <a:xfrm>
            <a:off x="4318000" y="3644900"/>
            <a:ext cx="38100" cy="15875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9A18FBC-265B-A041-926D-EEA7A6544EA5}"/>
              </a:ext>
            </a:extLst>
          </p:cNvPr>
          <p:cNvSpPr txBox="1"/>
          <p:nvPr/>
        </p:nvSpPr>
        <p:spPr>
          <a:xfrm>
            <a:off x="4546600" y="3708400"/>
            <a:ext cx="298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메시지 제한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5BA8D3-0B23-4C45-9D41-221D7A3EC590}"/>
              </a:ext>
            </a:extLst>
          </p:cNvPr>
          <p:cNvSpPr txBox="1"/>
          <p:nvPr/>
        </p:nvSpPr>
        <p:spPr>
          <a:xfrm>
            <a:off x="4546600" y="4127500"/>
            <a:ext cx="2984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모기지 전문가의 초기 메시지 수 제한으로
모기지 신청자 보호 </a:t>
            </a:r>
            <a:r>
              <a:rPr lang="en-US" altLang="ko-KR" sz="1200">
                <a:solidFill>
                  <a:srgbClr val="F8F7F4"/>
                </a:solidFill>
              </a:rPr>
              <a:t>(</a:t>
            </a:r>
            <a:r>
              <a:rPr lang="ko-KR" altLang="en-US" sz="1200">
                <a:solidFill>
                  <a:srgbClr val="F8F7F4"/>
                </a:solidFill>
              </a:rPr>
              <a:t>시스템 설정 기반</a:t>
            </a:r>
            <a:r>
              <a:rPr lang="en-US" altLang="ko-KR" sz="1200">
                <a:solidFill>
                  <a:srgbClr val="F8F7F4"/>
                </a:solidFill>
              </a:rPr>
              <a:t>)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0C504C18-5134-F44B-BB41-9351B2B48028}"/>
              </a:ext>
            </a:extLst>
          </p:cNvPr>
          <p:cNvSpPr/>
          <p:nvPr/>
        </p:nvSpPr>
        <p:spPr>
          <a:xfrm>
            <a:off x="7874000" y="3517900"/>
            <a:ext cx="3365500" cy="18415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24C3B3E-D8C7-7B45-805D-FF38677E9EFB}"/>
              </a:ext>
            </a:extLst>
          </p:cNvPr>
          <p:cNvSpPr/>
          <p:nvPr/>
        </p:nvSpPr>
        <p:spPr>
          <a:xfrm>
            <a:off x="7874000" y="3644900"/>
            <a:ext cx="38100" cy="15875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857C0E-C166-ED4E-877D-DA60CB7B5E73}"/>
              </a:ext>
            </a:extLst>
          </p:cNvPr>
          <p:cNvSpPr txBox="1"/>
          <p:nvPr/>
        </p:nvSpPr>
        <p:spPr>
          <a:xfrm>
            <a:off x="8102600" y="3708400"/>
            <a:ext cx="29845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마켓플레이스</a:t>
            </a:r>
            <a:r>
              <a:rPr lang="en-US" altLang="ko-KR" sz="1400" b="1">
                <a:solidFill>
                  <a:srgbClr val="D4A853"/>
                </a:solidFill>
              </a:rPr>
              <a:t>, </a:t>
            </a:r>
            <a:r>
              <a:rPr lang="en-US" sz="1400" b="1">
                <a:solidFill>
                  <a:srgbClr val="D4A853"/>
                </a:solidFill>
              </a:rPr>
              <a:t>not </a:t>
            </a:r>
            <a:r>
              <a:rPr lang="ko-KR" altLang="en-US" sz="1400" b="1">
                <a:solidFill>
                  <a:srgbClr val="D4A853"/>
                </a:solidFill>
              </a:rPr>
              <a:t>대출기관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8967417-DF15-1F42-970B-1072026E0C5C}"/>
              </a:ext>
            </a:extLst>
          </p:cNvPr>
          <p:cNvSpPr txBox="1"/>
          <p:nvPr/>
        </p:nvSpPr>
        <p:spPr>
          <a:xfrm>
            <a:off x="8102600" y="4127500"/>
            <a:ext cx="29845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mortly</a:t>
            </a:r>
            <a:r>
              <a:rPr lang="ko-KR" altLang="en-US" sz="1200">
                <a:solidFill>
                  <a:srgbClr val="F8F7F4"/>
                </a:solidFill>
              </a:rPr>
              <a:t>는 대출기관이나 금융자문사가 아닌
연결 플랫폼으로서의 정체성 유지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B674D00-5E2E-7544-88AD-AF78E9FD5F49}"/>
              </a:ext>
            </a:extLst>
          </p:cNvPr>
          <p:cNvSpPr txBox="1"/>
          <p:nvPr/>
        </p:nvSpPr>
        <p:spPr>
          <a:xfrm>
            <a:off x="762000" y="5842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76285"/>
                </a:solidFill>
              </a:rPr>
              <a:t>mortly</a:t>
            </a:r>
            <a:r>
              <a:rPr lang="ko-KR" altLang="en-US" sz="1400" i="1">
                <a:solidFill>
                  <a:srgbClr val="576285"/>
                </a:solidFill>
              </a:rPr>
              <a:t>의 신뢰 인프라는 기능이 아닌 플랫폼의 근간입니다</a:t>
            </a:r>
            <a:endParaRPr lang="ko-US" sz="1400" i="1">
              <a:solidFill>
                <a:srgbClr val="5762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1039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0FD35F1-0030-6E40-8FA8-29597B0A0750}"/>
              </a:ext>
            </a:extLst>
          </p:cNvPr>
          <p:cNvSpPr txBox="1"/>
          <p:nvPr/>
        </p:nvSpPr>
        <p:spPr>
          <a:xfrm>
            <a:off x="762000" y="317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MARKETPLACE OPERATIONS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D8879C2-07E9-2C46-B87A-79DBC5D1428B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89751F-A5F4-7342-8F32-C42C70409EDE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관리자 운영 체계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단순 매칭이 아닌 운영 시스템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14B7AC47-17F7-EC47-9B27-CA4331E3D5EC}"/>
              </a:ext>
            </a:extLst>
          </p:cNvPr>
          <p:cNvSpPr/>
          <p:nvPr/>
        </p:nvSpPr>
        <p:spPr>
          <a:xfrm>
            <a:off x="762000" y="13970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A53CAC2-CB2A-FA4E-9DEF-BA832FA6BB21}"/>
              </a:ext>
            </a:extLst>
          </p:cNvPr>
          <p:cNvSpPr/>
          <p:nvPr/>
        </p:nvSpPr>
        <p:spPr>
          <a:xfrm>
            <a:off x="762000" y="13970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E3B92E-EAB8-394E-9722-2E1BBB9263B7}"/>
              </a:ext>
            </a:extLst>
          </p:cNvPr>
          <p:cNvSpPr txBox="1"/>
          <p:nvPr/>
        </p:nvSpPr>
        <p:spPr>
          <a:xfrm>
            <a:off x="939800" y="157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요청 승인 큐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4E7EDB4-48E7-5749-A0B4-C16CDF8E0466}"/>
              </a:ext>
            </a:extLst>
          </p:cNvPr>
          <p:cNvSpPr txBox="1"/>
          <p:nvPr/>
        </p:nvSpPr>
        <p:spPr>
          <a:xfrm>
            <a:off x="939800" y="19685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모기지 신청자 요청을
관리자가 검토</a:t>
            </a:r>
            <a:r>
              <a:rPr lang="en-US" altLang="ko-KR" sz="1200">
                <a:solidFill>
                  <a:srgbClr val="576285"/>
                </a:solidFill>
              </a:rPr>
              <a:t>·</a:t>
            </a:r>
            <a:r>
              <a:rPr lang="ko-KR" altLang="en-US" sz="1200">
                <a:solidFill>
                  <a:srgbClr val="576285"/>
                </a:solidFill>
              </a:rPr>
              <a:t>승인</a:t>
            </a:r>
            <a:r>
              <a:rPr lang="en-US" altLang="ko-KR" sz="1200">
                <a:solidFill>
                  <a:srgbClr val="576285"/>
                </a:solidFill>
              </a:rPr>
              <a:t>·</a:t>
            </a:r>
            <a:r>
              <a:rPr lang="ko-KR" altLang="en-US" sz="1200">
                <a:solidFill>
                  <a:srgbClr val="576285"/>
                </a:solidFill>
              </a:rPr>
              <a:t>거절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489EE1B6-37AF-5448-A1D4-1684B67CEAE9}"/>
              </a:ext>
            </a:extLst>
          </p:cNvPr>
          <p:cNvSpPr/>
          <p:nvPr/>
        </p:nvSpPr>
        <p:spPr>
          <a:xfrm>
            <a:off x="3467100" y="13970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445EC55-B0C8-BA40-A6EA-8FED1DE14A36}"/>
              </a:ext>
            </a:extLst>
          </p:cNvPr>
          <p:cNvSpPr/>
          <p:nvPr/>
        </p:nvSpPr>
        <p:spPr>
          <a:xfrm>
            <a:off x="3467100" y="13970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FF97F0-1EFC-B942-A37F-C57C08877C46}"/>
              </a:ext>
            </a:extLst>
          </p:cNvPr>
          <p:cNvSpPr txBox="1"/>
          <p:nvPr/>
        </p:nvSpPr>
        <p:spPr>
          <a:xfrm>
            <a:off x="3644900" y="157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모기지 전문가 검증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E99B88-5408-DA41-ADE9-DABD5D0FCFB8}"/>
              </a:ext>
            </a:extLst>
          </p:cNvPr>
          <p:cNvSpPr txBox="1"/>
          <p:nvPr/>
        </p:nvSpPr>
        <p:spPr>
          <a:xfrm>
            <a:off x="3644900" y="19685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라이선스</a:t>
            </a:r>
            <a:r>
              <a:rPr lang="en-US" altLang="ko-KR" sz="1200">
                <a:solidFill>
                  <a:srgbClr val="576285"/>
                </a:solidFill>
              </a:rPr>
              <a:t>·</a:t>
            </a:r>
            <a:r>
              <a:rPr lang="ko-KR" altLang="en-US" sz="1200">
                <a:solidFill>
                  <a:srgbClr val="576285"/>
                </a:solidFill>
              </a:rPr>
              <a:t>프로필 확인 후
</a:t>
            </a:r>
            <a:r>
              <a:rPr lang="en-US" sz="1200">
                <a:solidFill>
                  <a:srgbClr val="576285"/>
                </a:solidFill>
              </a:rPr>
              <a:t>VERIFIED/REJECTED </a:t>
            </a:r>
            <a:r>
              <a:rPr lang="ko-KR" altLang="en-US" sz="1200">
                <a:solidFill>
                  <a:srgbClr val="576285"/>
                </a:solidFill>
              </a:rPr>
              <a:t>처리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E26CE7A1-A42C-8E45-9EFA-BB7EB9B19B3E}"/>
              </a:ext>
            </a:extLst>
          </p:cNvPr>
          <p:cNvSpPr/>
          <p:nvPr/>
        </p:nvSpPr>
        <p:spPr>
          <a:xfrm>
            <a:off x="6172200" y="13970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B6D591FB-C8EC-7F4B-AB8A-50CF3BB897BE}"/>
              </a:ext>
            </a:extLst>
          </p:cNvPr>
          <p:cNvSpPr/>
          <p:nvPr/>
        </p:nvSpPr>
        <p:spPr>
          <a:xfrm>
            <a:off x="6172200" y="13970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23F5FA-2AB4-A545-A753-C312F9A949D6}"/>
              </a:ext>
            </a:extLst>
          </p:cNvPr>
          <p:cNvSpPr txBox="1"/>
          <p:nvPr/>
        </p:nvSpPr>
        <p:spPr>
          <a:xfrm>
            <a:off x="6350000" y="157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신고 처리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E6F67D-39C3-9D47-AF7E-1D13F2848F0A}"/>
              </a:ext>
            </a:extLst>
          </p:cNvPr>
          <p:cNvSpPr txBox="1"/>
          <p:nvPr/>
        </p:nvSpPr>
        <p:spPr>
          <a:xfrm>
            <a:off x="6350000" y="19685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요청</a:t>
            </a:r>
            <a:r>
              <a:rPr lang="en-US" altLang="ko-KR" sz="1200">
                <a:solidFill>
                  <a:srgbClr val="576285"/>
                </a:solidFill>
              </a:rPr>
              <a:t>·</a:t>
            </a:r>
            <a:r>
              <a:rPr lang="ko-KR" altLang="en-US" sz="1200">
                <a:solidFill>
                  <a:srgbClr val="576285"/>
                </a:solidFill>
              </a:rPr>
              <a:t>모기지 전문가</a:t>
            </a:r>
            <a:r>
              <a:rPr lang="en-US" altLang="ko-KR" sz="1200">
                <a:solidFill>
                  <a:srgbClr val="576285"/>
                </a:solidFill>
              </a:rPr>
              <a:t>·</a:t>
            </a:r>
            <a:r>
              <a:rPr lang="ko-KR" altLang="en-US" sz="1200">
                <a:solidFill>
                  <a:srgbClr val="576285"/>
                </a:solidFill>
              </a:rPr>
              <a:t>대화
신고 접수 및 대응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9AC14D7-AEE1-4A43-B34C-D3E6A7872D09}"/>
              </a:ext>
            </a:extLst>
          </p:cNvPr>
          <p:cNvSpPr/>
          <p:nvPr/>
        </p:nvSpPr>
        <p:spPr>
          <a:xfrm>
            <a:off x="8877300" y="13970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30679BE-DCB8-D641-B8AB-36A591BAF672}"/>
              </a:ext>
            </a:extLst>
          </p:cNvPr>
          <p:cNvSpPr/>
          <p:nvPr/>
        </p:nvSpPr>
        <p:spPr>
          <a:xfrm>
            <a:off x="8877300" y="13970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5154176-FCB1-094E-9092-490FD689E7FA}"/>
              </a:ext>
            </a:extLst>
          </p:cNvPr>
          <p:cNvSpPr txBox="1"/>
          <p:nvPr/>
        </p:nvSpPr>
        <p:spPr>
          <a:xfrm>
            <a:off x="9055100" y="15748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크레딧 관리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212C6F9-3DC9-8D47-8024-959F3E141EB6}"/>
              </a:ext>
            </a:extLst>
          </p:cNvPr>
          <p:cNvSpPr txBox="1"/>
          <p:nvPr/>
        </p:nvSpPr>
        <p:spPr>
          <a:xfrm>
            <a:off x="9055100" y="19685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모기지 전문가 크레딧
수동 조정 가능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76DDA2B4-41DE-E845-ABEB-34865AC30C3F}"/>
              </a:ext>
            </a:extLst>
          </p:cNvPr>
          <p:cNvSpPr/>
          <p:nvPr/>
        </p:nvSpPr>
        <p:spPr>
          <a:xfrm>
            <a:off x="762000" y="32639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70ED940B-2596-9341-A1DC-C98379605C25}"/>
              </a:ext>
            </a:extLst>
          </p:cNvPr>
          <p:cNvSpPr/>
          <p:nvPr/>
        </p:nvSpPr>
        <p:spPr>
          <a:xfrm>
            <a:off x="762000" y="32639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B6B783A-4C24-E043-8B3B-E7607403982B}"/>
              </a:ext>
            </a:extLst>
          </p:cNvPr>
          <p:cNvSpPr txBox="1"/>
          <p:nvPr/>
        </p:nvSpPr>
        <p:spPr>
          <a:xfrm>
            <a:off x="939800" y="34417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시스템 설정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30EEF40-D935-D04C-85D7-99557968B344}"/>
              </a:ext>
            </a:extLst>
          </p:cNvPr>
          <p:cNvSpPr txBox="1"/>
          <p:nvPr/>
        </p:nvSpPr>
        <p:spPr>
          <a:xfrm>
            <a:off x="939800" y="38354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요청 만료일</a:t>
            </a:r>
            <a:r>
              <a:rPr lang="en-US" altLang="ko-KR" sz="1200">
                <a:solidFill>
                  <a:srgbClr val="576285"/>
                </a:solidFill>
              </a:rPr>
              <a:t>·</a:t>
            </a:r>
            <a:r>
              <a:rPr lang="ko-KR" altLang="en-US" sz="1200">
                <a:solidFill>
                  <a:srgbClr val="576285"/>
                </a:solidFill>
              </a:rPr>
              <a:t>메시지 제한
유지보수 모드 관리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8B19145B-F2DB-DC40-95D0-4EC5608695B9}"/>
              </a:ext>
            </a:extLst>
          </p:cNvPr>
          <p:cNvSpPr/>
          <p:nvPr/>
        </p:nvSpPr>
        <p:spPr>
          <a:xfrm>
            <a:off x="3467100" y="32639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28F058BD-A8A3-2040-AE2B-07C6F6D8030B}"/>
              </a:ext>
            </a:extLst>
          </p:cNvPr>
          <p:cNvSpPr/>
          <p:nvPr/>
        </p:nvSpPr>
        <p:spPr>
          <a:xfrm>
            <a:off x="3467100" y="32639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496F139-ABE9-224B-8B9F-4EC54440177F}"/>
              </a:ext>
            </a:extLst>
          </p:cNvPr>
          <p:cNvSpPr txBox="1"/>
          <p:nvPr/>
        </p:nvSpPr>
        <p:spPr>
          <a:xfrm>
            <a:off x="3644900" y="34417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감사 로그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6D4DDF7-5BF5-2640-A328-095067D97A5C}"/>
              </a:ext>
            </a:extLst>
          </p:cNvPr>
          <p:cNvSpPr txBox="1"/>
          <p:nvPr/>
        </p:nvSpPr>
        <p:spPr>
          <a:xfrm>
            <a:off x="3644900" y="38354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관리자 행동 기록
투명한 운영 추적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D69872B6-0C8E-8545-B447-869134260E03}"/>
              </a:ext>
            </a:extLst>
          </p:cNvPr>
          <p:cNvSpPr/>
          <p:nvPr/>
        </p:nvSpPr>
        <p:spPr>
          <a:xfrm>
            <a:off x="6172200" y="32639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C5FD7E62-AF42-8B42-90C7-29ACA2CA4810}"/>
              </a:ext>
            </a:extLst>
          </p:cNvPr>
          <p:cNvSpPr/>
          <p:nvPr/>
        </p:nvSpPr>
        <p:spPr>
          <a:xfrm>
            <a:off x="6172200" y="32639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D62084E-7E89-B94E-9D3C-91E141025953}"/>
              </a:ext>
            </a:extLst>
          </p:cNvPr>
          <p:cNvSpPr txBox="1"/>
          <p:nvPr/>
        </p:nvSpPr>
        <p:spPr>
          <a:xfrm>
            <a:off x="6350000" y="34417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공지 전송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730FC-504F-1C4C-9756-8A8C0E1FA75B}"/>
              </a:ext>
            </a:extLst>
          </p:cNvPr>
          <p:cNvSpPr txBox="1"/>
          <p:nvPr/>
        </p:nvSpPr>
        <p:spPr>
          <a:xfrm>
            <a:off x="6350000" y="38354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576285"/>
                </a:solidFill>
              </a:rPr>
              <a:t>플랫폼 전체 사용자
대상 공지사항 발송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33" name="모서리가 둥근 직사각형 32">
            <a:extLst>
              <a:ext uri="{FF2B5EF4-FFF2-40B4-BE49-F238E27FC236}">
                <a16:creationId xmlns:a16="http://schemas.microsoft.com/office/drawing/2014/main" id="{71C14302-F131-C748-B2F5-0BD4D4BB8403}"/>
              </a:ext>
            </a:extLst>
          </p:cNvPr>
          <p:cNvSpPr/>
          <p:nvPr/>
        </p:nvSpPr>
        <p:spPr>
          <a:xfrm>
            <a:off x="8877300" y="3263900"/>
            <a:ext cx="2540000" cy="1714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E9306CB-90F4-7B4A-8D4F-1200CD01224A}"/>
              </a:ext>
            </a:extLst>
          </p:cNvPr>
          <p:cNvSpPr/>
          <p:nvPr/>
        </p:nvSpPr>
        <p:spPr>
          <a:xfrm>
            <a:off x="8877300" y="3263900"/>
            <a:ext cx="2540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7E2D785-EFFB-E640-92B5-B520EBF71085}"/>
              </a:ext>
            </a:extLst>
          </p:cNvPr>
          <p:cNvSpPr txBox="1"/>
          <p:nvPr/>
        </p:nvSpPr>
        <p:spPr>
          <a:xfrm>
            <a:off x="9055100" y="3441700"/>
            <a:ext cx="2184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자동화 정책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AFA8B44-7F5B-D643-96B2-F25709C76988}"/>
              </a:ext>
            </a:extLst>
          </p:cNvPr>
          <p:cNvSpPr txBox="1"/>
          <p:nvPr/>
        </p:nvSpPr>
        <p:spPr>
          <a:xfrm>
            <a:off x="9055100" y="3835400"/>
            <a:ext cx="21844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576285"/>
                </a:solidFill>
              </a:rPr>
              <a:t>Cron </a:t>
            </a:r>
            <a:r>
              <a:rPr lang="ko-KR" altLang="en-US" sz="1200">
                <a:solidFill>
                  <a:srgbClr val="576285"/>
                </a:solidFill>
              </a:rPr>
              <a:t>기반 요청 만료
비활성 대화 자동 종료</a:t>
            </a:r>
            <a:endParaRPr lang="ko-US" sz="1200">
              <a:solidFill>
                <a:srgbClr val="576285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AF1E714-9934-234C-9B2D-8CD659A22909}"/>
              </a:ext>
            </a:extLst>
          </p:cNvPr>
          <p:cNvSpPr txBox="1"/>
          <p:nvPr/>
        </p:nvSpPr>
        <p:spPr>
          <a:xfrm>
            <a:off x="762000" y="52705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i="1">
                <a:solidFill>
                  <a:srgbClr val="576285"/>
                </a:solidFill>
              </a:rPr>
              <a:t>전체 현황 모니터링</a:t>
            </a:r>
            <a:r>
              <a:rPr lang="en-US" altLang="ko-KR" sz="1400" i="1">
                <a:solidFill>
                  <a:srgbClr val="576285"/>
                </a:solidFill>
              </a:rPr>
              <a:t>, </a:t>
            </a:r>
            <a:r>
              <a:rPr lang="ko-KR" altLang="en-US" sz="1400" i="1">
                <a:solidFill>
                  <a:srgbClr val="576285"/>
                </a:solidFill>
              </a:rPr>
              <a:t>사용자 상태 관리</a:t>
            </a:r>
            <a:r>
              <a:rPr lang="en-US" altLang="ko-KR" sz="1400" i="1">
                <a:solidFill>
                  <a:srgbClr val="576285"/>
                </a:solidFill>
              </a:rPr>
              <a:t>(</a:t>
            </a:r>
            <a:r>
              <a:rPr lang="en-US" sz="1400" i="1">
                <a:solidFill>
                  <a:srgbClr val="576285"/>
                </a:solidFill>
              </a:rPr>
              <a:t>ACTIVE/SUSPENDED/BANNED), </a:t>
            </a:r>
            <a:r>
              <a:rPr lang="ko-KR" altLang="en-US" sz="1400" i="1">
                <a:solidFill>
                  <a:srgbClr val="576285"/>
                </a:solidFill>
              </a:rPr>
              <a:t>운영 정책 자동화까지 포함된 관리자 콘솔</a:t>
            </a:r>
            <a:endParaRPr lang="ko-US" sz="1400" i="1">
              <a:solidFill>
                <a:srgbClr val="5762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2390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9C2ADB-3E3E-2242-AED0-820FCA9A3275}"/>
              </a:ext>
            </a:extLst>
          </p:cNvPr>
          <p:cNvSpPr txBox="1"/>
          <p:nvPr/>
        </p:nvSpPr>
        <p:spPr>
          <a:xfrm>
            <a:off x="762000" y="3175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SEGMENTS &amp; INITIAL WEDGE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411001-FA7D-3847-A2D0-CFECF0E210B1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AC837A-3FBA-5140-B2B8-5C301590A1DA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초기 </a:t>
            </a:r>
            <a:r>
              <a:rPr lang="en-US" sz="2000" b="1">
                <a:solidFill>
                  <a:srgbClr val="0F1729"/>
                </a:solidFill>
              </a:rPr>
              <a:t>Wedge</a:t>
            </a:r>
            <a:r>
              <a:rPr lang="ko-KR" altLang="en-US" sz="2000" b="1">
                <a:solidFill>
                  <a:srgbClr val="0F1729"/>
                </a:solidFill>
              </a:rPr>
              <a:t>에서 캐나다 전체 시장으로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5E1CAEF2-2B47-854B-85FE-CA73E041E9CB}"/>
              </a:ext>
            </a:extLst>
          </p:cNvPr>
          <p:cNvSpPr/>
          <p:nvPr/>
        </p:nvSpPr>
        <p:spPr>
          <a:xfrm>
            <a:off x="762000" y="1333500"/>
            <a:ext cx="3302000" cy="304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B9E275-A59B-D747-AA2C-15D43E53BDED}"/>
              </a:ext>
            </a:extLst>
          </p:cNvPr>
          <p:cNvSpPr txBox="1"/>
          <p:nvPr/>
        </p:nvSpPr>
        <p:spPr>
          <a:xfrm>
            <a:off x="952500" y="146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모기지 신청자 세그먼트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783973-43F3-5140-818D-0A754176A048}"/>
              </a:ext>
            </a:extLst>
          </p:cNvPr>
          <p:cNvSpPr txBox="1"/>
          <p:nvPr/>
        </p:nvSpPr>
        <p:spPr>
          <a:xfrm>
            <a:off x="952500" y="1841500"/>
            <a:ext cx="2921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첫 주택 구매자 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First-time buyer)
</a:t>
            </a:r>
            <a:r>
              <a:rPr lang="ko-KR" altLang="en-US" sz="1400">
                <a:solidFill>
                  <a:srgbClr val="1F2D52"/>
                </a:solidFill>
              </a:rPr>
              <a:t>재융자</a:t>
            </a:r>
            <a:r>
              <a:rPr lang="en-US" altLang="ko-KR" sz="1400">
                <a:solidFill>
                  <a:srgbClr val="1F2D52"/>
                </a:solidFill>
              </a:rPr>
              <a:t>/</a:t>
            </a:r>
            <a:r>
              <a:rPr lang="ko-KR" altLang="en-US" sz="1400">
                <a:solidFill>
                  <a:srgbClr val="1F2D52"/>
                </a:solidFill>
              </a:rPr>
              <a:t>갱신 희망자
프라이버시 중시 사용자
상업용 모기지 신청자
캐나다 거주 한국어 사용자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D64838EF-273A-A14B-B636-8ABB27EC74D7}"/>
              </a:ext>
            </a:extLst>
          </p:cNvPr>
          <p:cNvSpPr/>
          <p:nvPr/>
        </p:nvSpPr>
        <p:spPr>
          <a:xfrm>
            <a:off x="4254500" y="1333500"/>
            <a:ext cx="3302000" cy="3048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170338-E130-9B47-B0AE-1D5E60BF0A73}"/>
              </a:ext>
            </a:extLst>
          </p:cNvPr>
          <p:cNvSpPr txBox="1"/>
          <p:nvPr/>
        </p:nvSpPr>
        <p:spPr>
          <a:xfrm>
            <a:off x="4445000" y="14605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모기지 전문가 세그먼트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9AFAA6-6E8D-E84B-8904-2481F685FF12}"/>
              </a:ext>
            </a:extLst>
          </p:cNvPr>
          <p:cNvSpPr txBox="1"/>
          <p:nvPr/>
        </p:nvSpPr>
        <p:spPr>
          <a:xfrm>
            <a:off x="4445000" y="1841500"/>
            <a:ext cx="2921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독립 모기지 전문가
성장 단계 모기지 팀
한인 커뮤니티 전문가
디지털 수요 확보가 필요한
모기지 전문가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E255D224-A26B-C244-89AB-47C18E39FBEC}"/>
              </a:ext>
            </a:extLst>
          </p:cNvPr>
          <p:cNvSpPr/>
          <p:nvPr/>
        </p:nvSpPr>
        <p:spPr>
          <a:xfrm>
            <a:off x="7747000" y="1333500"/>
            <a:ext cx="3683000" cy="30480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3C6730-78CE-684B-979F-D222A0F88DA6}"/>
              </a:ext>
            </a:extLst>
          </p:cNvPr>
          <p:cNvSpPr txBox="1"/>
          <p:nvPr/>
        </p:nvSpPr>
        <p:spPr>
          <a:xfrm>
            <a:off x="7937500" y="1460500"/>
            <a:ext cx="3302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초기 </a:t>
            </a:r>
            <a:r>
              <a:rPr lang="en-US" sz="1400" b="1">
                <a:solidFill>
                  <a:srgbClr val="D4A853"/>
                </a:solidFill>
              </a:rPr>
              <a:t>Wedge </a:t>
            </a:r>
            <a:r>
              <a:rPr lang="ko-KR" altLang="en-US" sz="1400" b="1">
                <a:solidFill>
                  <a:srgbClr val="D4A853"/>
                </a:solidFill>
              </a:rPr>
              <a:t>전략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A51EEA3-99A9-FD4A-BE04-4FD73B2E4DE9}"/>
              </a:ext>
            </a:extLst>
          </p:cNvPr>
          <p:cNvSpPr txBox="1"/>
          <p:nvPr/>
        </p:nvSpPr>
        <p:spPr>
          <a:xfrm>
            <a:off x="7937500" y="1841500"/>
            <a:ext cx="3302000" cy="2413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한국어</a:t>
            </a:r>
            <a:r>
              <a:rPr lang="en-US" altLang="ko-KR" sz="1400">
                <a:solidFill>
                  <a:srgbClr val="F8F7F4"/>
                </a:solidFill>
              </a:rPr>
              <a:t>/</a:t>
            </a:r>
            <a:r>
              <a:rPr lang="ko-KR" altLang="en-US" sz="1400">
                <a:solidFill>
                  <a:srgbClr val="F8F7F4"/>
                </a:solidFill>
              </a:rPr>
              <a:t>영어 이중언어
신뢰 계층
기존에 충분히 서비스되지 않는
한인 커뮤니티 세그먼트
캐나다 전역 확장 가능한
플랫폼 구조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457EB9C6-744D-AD46-8042-628D84D81A0E}"/>
              </a:ext>
            </a:extLst>
          </p:cNvPr>
          <p:cNvSpPr/>
          <p:nvPr/>
        </p:nvSpPr>
        <p:spPr>
          <a:xfrm>
            <a:off x="762000" y="4597400"/>
            <a:ext cx="10668000" cy="10160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378FF89-34A8-FD4A-92F0-DFF5C8DC4A77}"/>
              </a:ext>
            </a:extLst>
          </p:cNvPr>
          <p:cNvSpPr txBox="1"/>
          <p:nvPr/>
        </p:nvSpPr>
        <p:spPr>
          <a:xfrm>
            <a:off x="1016000" y="4699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Phase 1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1BE0BF-2125-FE4F-A443-6E815BA1ACF9}"/>
              </a:ext>
            </a:extLst>
          </p:cNvPr>
          <p:cNvSpPr txBox="1"/>
          <p:nvPr/>
        </p:nvSpPr>
        <p:spPr>
          <a:xfrm>
            <a:off x="1016000" y="4953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729"/>
                </a:solidFill>
              </a:rPr>
              <a:t>Korean-Canadian
Community</a:t>
            </a:r>
            <a:endParaRPr lang="ko-US" sz="1400">
              <a:solidFill>
                <a:srgbClr val="0F1729"/>
              </a:solidFill>
            </a:endParaRPr>
          </a:p>
        </p:txBody>
      </p:sp>
      <p:sp>
        <p:nvSpPr>
          <p:cNvPr id="17" name="오른쪽 화살표[R] 16">
            <a:extLst>
              <a:ext uri="{FF2B5EF4-FFF2-40B4-BE49-F238E27FC236}">
                <a16:creationId xmlns:a16="http://schemas.microsoft.com/office/drawing/2014/main" id="{B6859E40-E3DE-3A42-9559-11C76E47413B}"/>
              </a:ext>
            </a:extLst>
          </p:cNvPr>
          <p:cNvSpPr/>
          <p:nvPr/>
        </p:nvSpPr>
        <p:spPr>
          <a:xfrm>
            <a:off x="3746500" y="5016500"/>
            <a:ext cx="381000" cy="2286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9E446D-BD00-4C45-8508-C6D067436E0D}"/>
              </a:ext>
            </a:extLst>
          </p:cNvPr>
          <p:cNvSpPr txBox="1"/>
          <p:nvPr/>
        </p:nvSpPr>
        <p:spPr>
          <a:xfrm>
            <a:off x="4318000" y="4699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Phase 2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C51948-D02E-5949-8670-E695B514DE91}"/>
              </a:ext>
            </a:extLst>
          </p:cNvPr>
          <p:cNvSpPr txBox="1"/>
          <p:nvPr/>
        </p:nvSpPr>
        <p:spPr>
          <a:xfrm>
            <a:off x="4318000" y="4953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729"/>
                </a:solidFill>
              </a:rPr>
              <a:t>Bilingual Canadian
Market</a:t>
            </a:r>
            <a:endParaRPr lang="ko-US" sz="1400">
              <a:solidFill>
                <a:srgbClr val="0F1729"/>
              </a:solidFill>
            </a:endParaRPr>
          </a:p>
        </p:txBody>
      </p:sp>
      <p:sp>
        <p:nvSpPr>
          <p:cNvPr id="20" name="오른쪽 화살표[R] 19">
            <a:extLst>
              <a:ext uri="{FF2B5EF4-FFF2-40B4-BE49-F238E27FC236}">
                <a16:creationId xmlns:a16="http://schemas.microsoft.com/office/drawing/2014/main" id="{A172815A-6EFF-6C4F-980F-34C8E1B2FCDF}"/>
              </a:ext>
            </a:extLst>
          </p:cNvPr>
          <p:cNvSpPr/>
          <p:nvPr/>
        </p:nvSpPr>
        <p:spPr>
          <a:xfrm>
            <a:off x="7048500" y="5016500"/>
            <a:ext cx="381000" cy="2286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858D1EF-6905-2F49-9ABA-0A5C422F2BBF}"/>
              </a:ext>
            </a:extLst>
          </p:cNvPr>
          <p:cNvSpPr txBox="1"/>
          <p:nvPr/>
        </p:nvSpPr>
        <p:spPr>
          <a:xfrm>
            <a:off x="7747000" y="4699000"/>
            <a:ext cx="127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Phase 3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B2CDC80-AFF6-F34E-8701-4BED804E891D}"/>
              </a:ext>
            </a:extLst>
          </p:cNvPr>
          <p:cNvSpPr txBox="1"/>
          <p:nvPr/>
        </p:nvSpPr>
        <p:spPr>
          <a:xfrm>
            <a:off x="7747000" y="4953000"/>
            <a:ext cx="2540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0F1729"/>
                </a:solidFill>
              </a:rPr>
              <a:t>Broader Canadian
Mortgage Demand</a:t>
            </a:r>
            <a:endParaRPr lang="ko-US" sz="1400">
              <a:solidFill>
                <a:srgbClr val="0F1729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747BF6D-96BE-854A-BCD2-62CA15585D7B}"/>
              </a:ext>
            </a:extLst>
          </p:cNvPr>
          <p:cNvSpPr txBox="1"/>
          <p:nvPr/>
        </p:nvSpPr>
        <p:spPr>
          <a:xfrm>
            <a:off x="762000" y="5842000"/>
            <a:ext cx="10668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100" i="1">
                <a:solidFill>
                  <a:srgbClr val="A8812E"/>
                </a:solidFill>
              </a:rPr>
              <a:t>[</a:t>
            </a:r>
            <a:r>
              <a:rPr lang="ko-KR" altLang="en-US" sz="1100" i="1">
                <a:solidFill>
                  <a:srgbClr val="A8812E"/>
                </a:solidFill>
              </a:rPr>
              <a:t>캐나다 모기지 시장 규모 </a:t>
            </a:r>
            <a:r>
              <a:rPr lang="en-US" altLang="ko-KR" sz="1100" i="1">
                <a:solidFill>
                  <a:srgbClr val="A8812E"/>
                </a:solidFill>
              </a:rPr>
              <a:t>— </a:t>
            </a:r>
            <a:r>
              <a:rPr lang="en-US" sz="1100" i="1">
                <a:solidFill>
                  <a:srgbClr val="A8812E"/>
                </a:solidFill>
              </a:rPr>
              <a:t>source required]  |  [Licensed mortgage professional count — source required]  |  [Korean-Canadian addressable segment — source required]</a:t>
            </a:r>
            <a:endParaRPr lang="ko-US" sz="1100" i="1">
              <a:solidFill>
                <a:srgbClr val="A881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297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0E47F9-2F13-6241-93B2-774C364DC6BE}"/>
              </a:ext>
            </a:extLst>
          </p:cNvPr>
          <p:cNvSpPr txBox="1"/>
          <p:nvPr/>
        </p:nvSpPr>
        <p:spPr>
          <a:xfrm>
            <a:off x="762000" y="3175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BUSINESS MODEL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231360B-AC3F-6E42-B898-956B44FC9913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C4028-03D1-6F40-B1A4-ADE83BA1F528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수익 모델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모기지 신청자 무료</a:t>
            </a:r>
            <a:r>
              <a:rPr lang="en-US" altLang="ko-KR" sz="2000" b="1">
                <a:solidFill>
                  <a:srgbClr val="0F1729"/>
                </a:solidFill>
              </a:rPr>
              <a:t>, </a:t>
            </a:r>
            <a:r>
              <a:rPr lang="ko-KR" altLang="en-US" sz="2000" b="1">
                <a:solidFill>
                  <a:srgbClr val="0F1729"/>
                </a:solidFill>
              </a:rPr>
              <a:t>모기지 전문가 월 구독제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844EE860-1B33-2148-BC39-6A56AFD41BA7}"/>
              </a:ext>
            </a:extLst>
          </p:cNvPr>
          <p:cNvSpPr/>
          <p:nvPr/>
        </p:nvSpPr>
        <p:spPr>
          <a:xfrm>
            <a:off x="863600" y="1333500"/>
            <a:ext cx="2540000" cy="36830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ACC1B8-FFA6-C541-B675-73C6161258FE}"/>
              </a:ext>
            </a:extLst>
          </p:cNvPr>
          <p:cNvSpPr txBox="1"/>
          <p:nvPr/>
        </p:nvSpPr>
        <p:spPr>
          <a:xfrm>
            <a:off x="1054100" y="15875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FREE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FC865A8-ED6B-7940-994D-AC37FEA73E45}"/>
              </a:ext>
            </a:extLst>
          </p:cNvPr>
          <p:cNvSpPr txBox="1"/>
          <p:nvPr/>
        </p:nvSpPr>
        <p:spPr>
          <a:xfrm>
            <a:off x="1054100" y="1968500"/>
            <a:ext cx="2159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US" sz="3200" b="1">
                <a:solidFill>
                  <a:srgbClr val="0F1729"/>
                </a:solidFill>
              </a:rPr>
              <a:t>$0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703873-A0A1-0849-84D8-8D8A97C47AFE}"/>
              </a:ext>
            </a:extLst>
          </p:cNvPr>
          <p:cNvSpPr txBox="1"/>
          <p:nvPr/>
        </p:nvSpPr>
        <p:spPr>
          <a:xfrm>
            <a:off x="1054100" y="24765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/</a:t>
            </a:r>
            <a:r>
              <a:rPr lang="ko-KR" altLang="en-US" sz="1400">
                <a:solidFill>
                  <a:srgbClr val="576285"/>
                </a:solidFill>
              </a:rPr>
              <a:t>월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71F5096-55EE-B14A-A1B4-3367987522B5}"/>
              </a:ext>
            </a:extLst>
          </p:cNvPr>
          <p:cNvSpPr/>
          <p:nvPr/>
        </p:nvSpPr>
        <p:spPr>
          <a:xfrm>
            <a:off x="1244600" y="2832100"/>
            <a:ext cx="1778000" cy="3556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altLang="ko-KR" sz="1200" b="1">
                <a:solidFill>
                  <a:srgbClr val="0F1729"/>
                </a:solidFill>
              </a:rPr>
              <a:t>0 </a:t>
            </a:r>
            <a:r>
              <a:rPr lang="ko-KR" altLang="en-US" sz="1200" b="1">
                <a:solidFill>
                  <a:srgbClr val="0F1729"/>
                </a:solidFill>
              </a:rPr>
              <a:t>크레딧</a:t>
            </a:r>
            <a:endParaRPr lang="ko-US" sz="1200" b="1">
              <a:solidFill>
                <a:srgbClr val="0F1729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E104CFC-A883-D747-A9A0-538E40A6CF60}"/>
              </a:ext>
            </a:extLst>
          </p:cNvPr>
          <p:cNvSpPr/>
          <p:nvPr/>
        </p:nvSpPr>
        <p:spPr>
          <a:xfrm>
            <a:off x="1054100" y="3340100"/>
            <a:ext cx="2159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DD20E8-2593-654D-8711-38103B105B93}"/>
              </a:ext>
            </a:extLst>
          </p:cNvPr>
          <p:cNvSpPr txBox="1"/>
          <p:nvPr/>
        </p:nvSpPr>
        <p:spPr>
          <a:xfrm>
            <a:off x="1054100" y="3492500"/>
            <a:ext cx="215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0F1729"/>
                </a:solidFill>
              </a:rPr>
              <a:t>요청 열람 가능
고객 메시징 불가
기본 프로필</a:t>
            </a:r>
            <a:endParaRPr lang="ko-US" sz="1400">
              <a:solidFill>
                <a:srgbClr val="0F1729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43890C2-03B2-CE47-BF24-21F9D2ED0CF4}"/>
              </a:ext>
            </a:extLst>
          </p:cNvPr>
          <p:cNvSpPr/>
          <p:nvPr/>
        </p:nvSpPr>
        <p:spPr>
          <a:xfrm>
            <a:off x="3568700" y="1333500"/>
            <a:ext cx="2540000" cy="3683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330D01-9E9A-764F-8249-D1163D65E6E8}"/>
              </a:ext>
            </a:extLst>
          </p:cNvPr>
          <p:cNvSpPr txBox="1"/>
          <p:nvPr/>
        </p:nvSpPr>
        <p:spPr>
          <a:xfrm>
            <a:off x="3759200" y="15875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BASIC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216775F-BCBD-5846-8D96-80E3A57F09B2}"/>
              </a:ext>
            </a:extLst>
          </p:cNvPr>
          <p:cNvSpPr txBox="1"/>
          <p:nvPr/>
        </p:nvSpPr>
        <p:spPr>
          <a:xfrm>
            <a:off x="3759200" y="1968500"/>
            <a:ext cx="2159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US" sz="3200" b="1">
                <a:solidFill>
                  <a:srgbClr val="0F1729"/>
                </a:solidFill>
              </a:rPr>
              <a:t>$29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197ABA-5B70-4144-A7B0-0239B036094D}"/>
              </a:ext>
            </a:extLst>
          </p:cNvPr>
          <p:cNvSpPr txBox="1"/>
          <p:nvPr/>
        </p:nvSpPr>
        <p:spPr>
          <a:xfrm>
            <a:off x="3759200" y="24765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/</a:t>
            </a:r>
            <a:r>
              <a:rPr lang="ko-KR" altLang="en-US" sz="1400">
                <a:solidFill>
                  <a:srgbClr val="576285"/>
                </a:solidFill>
              </a:rPr>
              <a:t>월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9D51FD19-2EEA-D54C-862E-1EB25FA531B3}"/>
              </a:ext>
            </a:extLst>
          </p:cNvPr>
          <p:cNvSpPr/>
          <p:nvPr/>
        </p:nvSpPr>
        <p:spPr>
          <a:xfrm>
            <a:off x="3949700" y="2832100"/>
            <a:ext cx="1778000" cy="3556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F1729"/>
                </a:solidFill>
              </a:rPr>
              <a:t>월 </a:t>
            </a:r>
            <a:r>
              <a:rPr lang="en-US" altLang="ko-KR" sz="1200" b="1">
                <a:solidFill>
                  <a:srgbClr val="0F1729"/>
                </a:solidFill>
              </a:rPr>
              <a:t>5 </a:t>
            </a:r>
            <a:r>
              <a:rPr lang="ko-KR" altLang="en-US" sz="1200" b="1">
                <a:solidFill>
                  <a:srgbClr val="0F1729"/>
                </a:solidFill>
              </a:rPr>
              <a:t>크레딧</a:t>
            </a:r>
            <a:endParaRPr lang="ko-US" sz="1200" b="1">
              <a:solidFill>
                <a:srgbClr val="0F1729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DB6EF3-8674-0E47-9207-0230D8B041A7}"/>
              </a:ext>
            </a:extLst>
          </p:cNvPr>
          <p:cNvSpPr/>
          <p:nvPr/>
        </p:nvSpPr>
        <p:spPr>
          <a:xfrm>
            <a:off x="3759200" y="3340100"/>
            <a:ext cx="2159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69214FC-F1CD-7A4A-89B6-50ECA1A05C9F}"/>
              </a:ext>
            </a:extLst>
          </p:cNvPr>
          <p:cNvSpPr txBox="1"/>
          <p:nvPr/>
        </p:nvSpPr>
        <p:spPr>
          <a:xfrm>
            <a:off x="3759200" y="3492500"/>
            <a:ext cx="215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0F1729"/>
                </a:solidFill>
              </a:rPr>
              <a:t>요청 열람 </a:t>
            </a:r>
            <a:r>
              <a:rPr lang="en-US" altLang="ko-KR" sz="1400">
                <a:solidFill>
                  <a:srgbClr val="0F1729"/>
                </a:solidFill>
              </a:rPr>
              <a:t>+ </a:t>
            </a:r>
            <a:r>
              <a:rPr lang="ko-KR" altLang="en-US" sz="1400">
                <a:solidFill>
                  <a:srgbClr val="0F1729"/>
                </a:solidFill>
              </a:rPr>
              <a:t>응답
고객 메시징 가능
프로필 공개</a:t>
            </a:r>
            <a:endParaRPr lang="ko-US" sz="1400">
              <a:solidFill>
                <a:srgbClr val="0F1729"/>
              </a:solidFill>
            </a:endParaRPr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2489B4EA-A643-1E4D-A24E-A80D34002C72}"/>
              </a:ext>
            </a:extLst>
          </p:cNvPr>
          <p:cNvSpPr/>
          <p:nvPr/>
        </p:nvSpPr>
        <p:spPr>
          <a:xfrm>
            <a:off x="6273800" y="1333500"/>
            <a:ext cx="2540000" cy="3683000"/>
          </a:xfrm>
          <a:prstGeom prst="roundRect">
            <a:avLst/>
          </a:prstGeom>
          <a:solidFill>
            <a:srgbClr val="0F1729"/>
          </a:solidFill>
          <a:ln w="25400" cap="flat" cmpd="sng" algn="ctr">
            <a:solidFill>
              <a:srgbClr val="D4A85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73BC513-927B-F347-B617-69D288BFFC38}"/>
              </a:ext>
            </a:extLst>
          </p:cNvPr>
          <p:cNvSpPr/>
          <p:nvPr/>
        </p:nvSpPr>
        <p:spPr>
          <a:xfrm>
            <a:off x="6972300" y="1181100"/>
            <a:ext cx="1143000" cy="304800"/>
          </a:xfrm>
          <a:prstGeom prst="round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0F1729"/>
                </a:solidFill>
              </a:rPr>
              <a:t>POPULAR</a:t>
            </a:r>
            <a:endParaRPr lang="ko-US" sz="1100" b="1">
              <a:solidFill>
                <a:srgbClr val="0F1729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427F54-C78C-7E47-B943-6B5BA819868B}"/>
              </a:ext>
            </a:extLst>
          </p:cNvPr>
          <p:cNvSpPr txBox="1"/>
          <p:nvPr/>
        </p:nvSpPr>
        <p:spPr>
          <a:xfrm>
            <a:off x="6464300" y="15875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PRO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06157A-B6AB-244D-B27B-3F2262CD540C}"/>
              </a:ext>
            </a:extLst>
          </p:cNvPr>
          <p:cNvSpPr txBox="1"/>
          <p:nvPr/>
        </p:nvSpPr>
        <p:spPr>
          <a:xfrm>
            <a:off x="6464300" y="1968500"/>
            <a:ext cx="2159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US" sz="3200" b="1">
                <a:solidFill>
                  <a:srgbClr val="F8F7F4"/>
                </a:solidFill>
              </a:rPr>
              <a:t>$69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42C50B3-531C-3C42-9111-1CFB88FBE6F6}"/>
              </a:ext>
            </a:extLst>
          </p:cNvPr>
          <p:cNvSpPr txBox="1"/>
          <p:nvPr/>
        </p:nvSpPr>
        <p:spPr>
          <a:xfrm>
            <a:off x="6464300" y="24765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/</a:t>
            </a:r>
            <a:r>
              <a:rPr lang="ko-KR" altLang="en-US" sz="1400">
                <a:solidFill>
                  <a:srgbClr val="576285"/>
                </a:solidFill>
              </a:rPr>
              <a:t>월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849AF9-15F9-174F-9DE0-7450D769577A}"/>
              </a:ext>
            </a:extLst>
          </p:cNvPr>
          <p:cNvSpPr/>
          <p:nvPr/>
        </p:nvSpPr>
        <p:spPr>
          <a:xfrm>
            <a:off x="6654800" y="2832100"/>
            <a:ext cx="1778000" cy="355600"/>
          </a:xfrm>
          <a:prstGeom prst="round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F1729"/>
                </a:solidFill>
              </a:rPr>
              <a:t>월 </a:t>
            </a:r>
            <a:r>
              <a:rPr lang="en-US" altLang="ko-KR" sz="1200" b="1">
                <a:solidFill>
                  <a:srgbClr val="0F1729"/>
                </a:solidFill>
              </a:rPr>
              <a:t>20 </a:t>
            </a:r>
            <a:r>
              <a:rPr lang="ko-KR" altLang="en-US" sz="1200" b="1">
                <a:solidFill>
                  <a:srgbClr val="0F1729"/>
                </a:solidFill>
              </a:rPr>
              <a:t>크레딧</a:t>
            </a:r>
            <a:endParaRPr lang="ko-US" sz="1200" b="1">
              <a:solidFill>
                <a:srgbClr val="0F1729"/>
              </a:solidFill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7EBF3A77-D083-D44F-86AF-EED301C2C6A5}"/>
              </a:ext>
            </a:extLst>
          </p:cNvPr>
          <p:cNvSpPr/>
          <p:nvPr/>
        </p:nvSpPr>
        <p:spPr>
          <a:xfrm>
            <a:off x="6464300" y="3340100"/>
            <a:ext cx="2159000" cy="12700"/>
          </a:xfrm>
          <a:prstGeom prst="rect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1CC194C-6906-3343-AFBE-68B53BBF4061}"/>
              </a:ext>
            </a:extLst>
          </p:cNvPr>
          <p:cNvSpPr txBox="1"/>
          <p:nvPr/>
        </p:nvSpPr>
        <p:spPr>
          <a:xfrm>
            <a:off x="6464300" y="3492500"/>
            <a:ext cx="215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요청 열람 </a:t>
            </a:r>
            <a:r>
              <a:rPr lang="en-US" altLang="ko-KR" sz="1400">
                <a:solidFill>
                  <a:srgbClr val="F8F7F4"/>
                </a:solidFill>
              </a:rPr>
              <a:t>+ </a:t>
            </a:r>
            <a:r>
              <a:rPr lang="ko-KR" altLang="en-US" sz="1400">
                <a:solidFill>
                  <a:srgbClr val="F8F7F4"/>
                </a:solidFill>
              </a:rPr>
              <a:t>응답
고객 메시징 가능
우선 프로필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27" name="모서리가 둥근 직사각형 26">
            <a:extLst>
              <a:ext uri="{FF2B5EF4-FFF2-40B4-BE49-F238E27FC236}">
                <a16:creationId xmlns:a16="http://schemas.microsoft.com/office/drawing/2014/main" id="{DB3D044D-7300-5544-A5B8-99AA0FA2A0C6}"/>
              </a:ext>
            </a:extLst>
          </p:cNvPr>
          <p:cNvSpPr/>
          <p:nvPr/>
        </p:nvSpPr>
        <p:spPr>
          <a:xfrm>
            <a:off x="8978900" y="1333500"/>
            <a:ext cx="2540000" cy="36830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0659EE-E988-FA49-A3C8-7C5CFB582AE8}"/>
              </a:ext>
            </a:extLst>
          </p:cNvPr>
          <p:cNvSpPr txBox="1"/>
          <p:nvPr/>
        </p:nvSpPr>
        <p:spPr>
          <a:xfrm>
            <a:off x="9169400" y="1587500"/>
            <a:ext cx="2159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PREMIUM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4987F3-7959-7C42-8950-F0C66E54D73C}"/>
              </a:ext>
            </a:extLst>
          </p:cNvPr>
          <p:cNvSpPr txBox="1"/>
          <p:nvPr/>
        </p:nvSpPr>
        <p:spPr>
          <a:xfrm>
            <a:off x="9169400" y="1968500"/>
            <a:ext cx="2159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US" sz="3200" b="1">
                <a:solidFill>
                  <a:srgbClr val="F8F7F4"/>
                </a:solidFill>
              </a:rPr>
              <a:t>$129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66598CC-4334-9C4C-863A-38E716EAD72E}"/>
              </a:ext>
            </a:extLst>
          </p:cNvPr>
          <p:cNvSpPr txBox="1"/>
          <p:nvPr/>
        </p:nvSpPr>
        <p:spPr>
          <a:xfrm>
            <a:off x="9169400" y="2476500"/>
            <a:ext cx="2159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/</a:t>
            </a:r>
            <a:r>
              <a:rPr lang="ko-KR" altLang="en-US" sz="1400">
                <a:solidFill>
                  <a:srgbClr val="576285"/>
                </a:solidFill>
              </a:rPr>
              <a:t>월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31" name="모서리가 둥근 직사각형 30">
            <a:extLst>
              <a:ext uri="{FF2B5EF4-FFF2-40B4-BE49-F238E27FC236}">
                <a16:creationId xmlns:a16="http://schemas.microsoft.com/office/drawing/2014/main" id="{7F98871A-9C3B-4349-99F6-991A98D9BFA6}"/>
              </a:ext>
            </a:extLst>
          </p:cNvPr>
          <p:cNvSpPr/>
          <p:nvPr/>
        </p:nvSpPr>
        <p:spPr>
          <a:xfrm>
            <a:off x="9359900" y="2832100"/>
            <a:ext cx="1778000" cy="3556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200" b="1">
                <a:solidFill>
                  <a:srgbClr val="0F1729"/>
                </a:solidFill>
              </a:rPr>
              <a:t>무제한</a:t>
            </a:r>
            <a:endParaRPr lang="ko-US" sz="1200" b="1">
              <a:solidFill>
                <a:srgbClr val="0F1729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59B307FA-AA42-2E43-9514-BD50338F6ED5}"/>
              </a:ext>
            </a:extLst>
          </p:cNvPr>
          <p:cNvSpPr/>
          <p:nvPr/>
        </p:nvSpPr>
        <p:spPr>
          <a:xfrm>
            <a:off x="9169400" y="3340100"/>
            <a:ext cx="2159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D96B457-0FA2-2243-B878-B01B6C497275}"/>
              </a:ext>
            </a:extLst>
          </p:cNvPr>
          <p:cNvSpPr txBox="1"/>
          <p:nvPr/>
        </p:nvSpPr>
        <p:spPr>
          <a:xfrm>
            <a:off x="9169400" y="3492500"/>
            <a:ext cx="2159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모든 기능
무제한 응답
최우선 프로필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6899FC-6F42-1A4A-9B34-F565E7C91B41}"/>
              </a:ext>
            </a:extLst>
          </p:cNvPr>
          <p:cNvSpPr txBox="1"/>
          <p:nvPr/>
        </p:nvSpPr>
        <p:spPr>
          <a:xfrm>
            <a:off x="762000" y="5270500"/>
            <a:ext cx="10668000" cy="571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576285"/>
                </a:solidFill>
              </a:rPr>
              <a:t>Stripe </a:t>
            </a:r>
            <a:r>
              <a:rPr lang="ko-KR" altLang="en-US" sz="1100">
                <a:solidFill>
                  <a:srgbClr val="576285"/>
                </a:solidFill>
              </a:rPr>
              <a:t>기반 결제 </a:t>
            </a:r>
            <a:r>
              <a:rPr lang="en-US" altLang="ko-KR" sz="1100">
                <a:solidFill>
                  <a:srgbClr val="576285"/>
                </a:solidFill>
              </a:rPr>
              <a:t>· </a:t>
            </a:r>
            <a:r>
              <a:rPr lang="ko-KR" altLang="en-US" sz="1100">
                <a:solidFill>
                  <a:srgbClr val="576285"/>
                </a:solidFill>
              </a:rPr>
              <a:t>즉시 업그레이드 </a:t>
            </a:r>
            <a:r>
              <a:rPr lang="en-US" altLang="ko-KR" sz="1100">
                <a:solidFill>
                  <a:srgbClr val="576285"/>
                </a:solidFill>
              </a:rPr>
              <a:t>· </a:t>
            </a:r>
            <a:r>
              <a:rPr lang="ko-KR" altLang="en-US" sz="1100">
                <a:solidFill>
                  <a:srgbClr val="576285"/>
                </a:solidFill>
              </a:rPr>
              <a:t>다운그레이드는 다음 결제 주기 적용 </a:t>
            </a:r>
            <a:r>
              <a:rPr lang="en-US" altLang="ko-KR" sz="1100">
                <a:solidFill>
                  <a:srgbClr val="576285"/>
                </a:solidFill>
              </a:rPr>
              <a:t>· </a:t>
            </a:r>
            <a:r>
              <a:rPr lang="ko-KR" altLang="en-US" sz="1100">
                <a:solidFill>
                  <a:srgbClr val="576285"/>
                </a:solidFill>
              </a:rPr>
              <a:t>향후 수익 확장 가능 </a:t>
            </a:r>
            <a:r>
              <a:rPr lang="en-US" altLang="ko-KR" sz="1100">
                <a:solidFill>
                  <a:srgbClr val="576285"/>
                </a:solidFill>
              </a:rPr>
              <a:t>(</a:t>
            </a:r>
            <a:r>
              <a:rPr lang="ko-KR" altLang="en-US" sz="1100">
                <a:solidFill>
                  <a:srgbClr val="576285"/>
                </a:solidFill>
              </a:rPr>
              <a:t>연간 결제</a:t>
            </a:r>
            <a:r>
              <a:rPr lang="en-US" altLang="ko-KR" sz="1100">
                <a:solidFill>
                  <a:srgbClr val="576285"/>
                </a:solidFill>
              </a:rPr>
              <a:t>, </a:t>
            </a:r>
            <a:r>
              <a:rPr lang="ko-KR" altLang="en-US" sz="1100">
                <a:solidFill>
                  <a:srgbClr val="576285"/>
                </a:solidFill>
              </a:rPr>
              <a:t>크레딧 팩 등은 로드맵</a:t>
            </a:r>
            <a:r>
              <a:rPr lang="en-US" altLang="ko-KR" sz="1100">
                <a:solidFill>
                  <a:srgbClr val="576285"/>
                </a:solidFill>
              </a:rPr>
              <a:t>)</a:t>
            </a:r>
            <a:endParaRPr lang="ko-US" sz="1100">
              <a:solidFill>
                <a:srgbClr val="5762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4109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84F5933-99CF-0C4D-9822-F24C515294BA}"/>
              </a:ext>
            </a:extLst>
          </p:cNvPr>
          <p:cNvSpPr txBox="1"/>
          <p:nvPr/>
        </p:nvSpPr>
        <p:spPr>
          <a:xfrm>
            <a:off x="762000" y="3175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GO-TO-MARKET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54B6B47-AE41-C140-ABAA-E3F997794A31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BDA91A-1DAB-B04C-B96D-9EBCA4F8F4C0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시장 진입 전략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커뮤니티 기반 → 이중언어 확장 → 전국 확대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740EFF1B-D689-F347-8A64-0D6E15E46C2E}"/>
              </a:ext>
            </a:extLst>
          </p:cNvPr>
          <p:cNvSpPr/>
          <p:nvPr/>
        </p:nvSpPr>
        <p:spPr>
          <a:xfrm>
            <a:off x="762000" y="1333500"/>
            <a:ext cx="3429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C42CF4BB-0062-9344-A784-537924138A05}"/>
              </a:ext>
            </a:extLst>
          </p:cNvPr>
          <p:cNvSpPr/>
          <p:nvPr/>
        </p:nvSpPr>
        <p:spPr>
          <a:xfrm>
            <a:off x="952500" y="1524000"/>
            <a:ext cx="1016000" cy="304800"/>
          </a:xfrm>
          <a:prstGeom prst="round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0F1729"/>
                </a:solidFill>
              </a:rPr>
              <a:t>PHASE 1</a:t>
            </a:r>
            <a:endParaRPr lang="ko-US" sz="1000" b="1">
              <a:solidFill>
                <a:srgbClr val="0F1729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936EF-02C9-7D4A-801D-F54844CEED6D}"/>
              </a:ext>
            </a:extLst>
          </p:cNvPr>
          <p:cNvSpPr txBox="1"/>
          <p:nvPr/>
        </p:nvSpPr>
        <p:spPr>
          <a:xfrm>
            <a:off x="952500" y="19685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729"/>
                </a:solidFill>
              </a:rPr>
              <a:t>Korean-Canadian
Community Wedge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14A112-8163-7140-B2F9-D9E66F8125FE}"/>
              </a:ext>
            </a:extLst>
          </p:cNvPr>
          <p:cNvSpPr/>
          <p:nvPr/>
        </p:nvSpPr>
        <p:spPr>
          <a:xfrm>
            <a:off x="952500" y="2705100"/>
            <a:ext cx="3048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77290E-56A1-694F-8E95-7719388AFC27}"/>
              </a:ext>
            </a:extLst>
          </p:cNvPr>
          <p:cNvSpPr txBox="1"/>
          <p:nvPr/>
        </p:nvSpPr>
        <p:spPr>
          <a:xfrm>
            <a:off x="952500" y="28321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한인 커뮤니티 파트너십
한국어 콘텐츠</a:t>
            </a:r>
            <a:r>
              <a:rPr lang="en-US" altLang="ko-KR" sz="1400">
                <a:solidFill>
                  <a:srgbClr val="1F2D52"/>
                </a:solidFill>
              </a:rPr>
              <a:t>·</a:t>
            </a:r>
            <a:r>
              <a:rPr lang="en-US" sz="1400">
                <a:solidFill>
                  <a:srgbClr val="1F2D52"/>
                </a:solidFill>
              </a:rPr>
              <a:t>SEO
</a:t>
            </a:r>
            <a:r>
              <a:rPr lang="ko-KR" altLang="en-US" sz="1400">
                <a:solidFill>
                  <a:srgbClr val="1F2D52"/>
                </a:solidFill>
              </a:rPr>
              <a:t>한인 모기지 전문가 네트워크
지역 집중 런칭 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GTA/</a:t>
            </a:r>
            <a:r>
              <a:rPr lang="ko-KR" altLang="en-US" sz="1400">
                <a:solidFill>
                  <a:srgbClr val="1F2D52"/>
                </a:solidFill>
              </a:rPr>
              <a:t>밴쿠버</a:t>
            </a:r>
            <a:r>
              <a:rPr lang="en-US" altLang="ko-KR" sz="1400">
                <a:solidFill>
                  <a:srgbClr val="1F2D52"/>
                </a:solidFill>
              </a:rPr>
              <a:t>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0" name="오른쪽 화살표[R] 9">
            <a:extLst>
              <a:ext uri="{FF2B5EF4-FFF2-40B4-BE49-F238E27FC236}">
                <a16:creationId xmlns:a16="http://schemas.microsoft.com/office/drawing/2014/main" id="{A46F5893-0D00-864D-8237-064D1F3B4550}"/>
              </a:ext>
            </a:extLst>
          </p:cNvPr>
          <p:cNvSpPr/>
          <p:nvPr/>
        </p:nvSpPr>
        <p:spPr>
          <a:xfrm>
            <a:off x="4203700" y="2882900"/>
            <a:ext cx="165100" cy="2032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1067508-0018-0A41-93FE-60879C830CB0}"/>
              </a:ext>
            </a:extLst>
          </p:cNvPr>
          <p:cNvSpPr/>
          <p:nvPr/>
        </p:nvSpPr>
        <p:spPr>
          <a:xfrm>
            <a:off x="4381500" y="1333500"/>
            <a:ext cx="3429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C5574CDA-FA09-BF4C-A509-B59AD70EA239}"/>
              </a:ext>
            </a:extLst>
          </p:cNvPr>
          <p:cNvSpPr/>
          <p:nvPr/>
        </p:nvSpPr>
        <p:spPr>
          <a:xfrm>
            <a:off x="4572000" y="1524000"/>
            <a:ext cx="1016000" cy="304800"/>
          </a:xfrm>
          <a:prstGeom prst="roundRect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8F7F4"/>
                </a:solidFill>
              </a:rPr>
              <a:t>PHASE 2</a:t>
            </a:r>
            <a:endParaRPr lang="ko-US" sz="1000" b="1">
              <a:solidFill>
                <a:srgbClr val="F8F7F4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64996-2010-3649-B569-1C5305C5CE41}"/>
              </a:ext>
            </a:extLst>
          </p:cNvPr>
          <p:cNvSpPr txBox="1"/>
          <p:nvPr/>
        </p:nvSpPr>
        <p:spPr>
          <a:xfrm>
            <a:off x="4572000" y="19685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729"/>
                </a:solidFill>
              </a:rPr>
              <a:t>Bilingual Canadian
Market Expansion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E58A36B3-773F-964D-A8FF-1EDB99B61363}"/>
              </a:ext>
            </a:extLst>
          </p:cNvPr>
          <p:cNvSpPr/>
          <p:nvPr/>
        </p:nvSpPr>
        <p:spPr>
          <a:xfrm>
            <a:off x="4572000" y="2705100"/>
            <a:ext cx="3048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75FAB0-29DF-BA4F-851C-3B283860239A}"/>
              </a:ext>
            </a:extLst>
          </p:cNvPr>
          <p:cNvSpPr txBox="1"/>
          <p:nvPr/>
        </p:nvSpPr>
        <p:spPr>
          <a:xfrm>
            <a:off x="4572000" y="28321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이중언어 </a:t>
            </a:r>
            <a:r>
              <a:rPr lang="en-US" sz="1400">
                <a:solidFill>
                  <a:srgbClr val="1F2D52"/>
                </a:solidFill>
              </a:rPr>
              <a:t>SEO·</a:t>
            </a:r>
            <a:r>
              <a:rPr lang="ko-KR" altLang="en-US" sz="1400">
                <a:solidFill>
                  <a:srgbClr val="1F2D52"/>
                </a:solidFill>
              </a:rPr>
              <a:t>콘텐츠 확대
모기지 전문가 추천 루프
지역 파트너십 확장
상업용 모기지 수요 포착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6" name="오른쪽 화살표[R] 15">
            <a:extLst>
              <a:ext uri="{FF2B5EF4-FFF2-40B4-BE49-F238E27FC236}">
                <a16:creationId xmlns:a16="http://schemas.microsoft.com/office/drawing/2014/main" id="{7273EDD1-DD87-A947-ADB3-37FEBDFED12A}"/>
              </a:ext>
            </a:extLst>
          </p:cNvPr>
          <p:cNvSpPr/>
          <p:nvPr/>
        </p:nvSpPr>
        <p:spPr>
          <a:xfrm>
            <a:off x="7823200" y="2882900"/>
            <a:ext cx="165100" cy="203200"/>
          </a:xfrm>
          <a:prstGeom prst="rightArrow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73196E0-F248-C243-8123-5D0D44ECB414}"/>
              </a:ext>
            </a:extLst>
          </p:cNvPr>
          <p:cNvSpPr/>
          <p:nvPr/>
        </p:nvSpPr>
        <p:spPr>
          <a:xfrm>
            <a:off x="8001000" y="1333500"/>
            <a:ext cx="3429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82F855F7-0911-0A49-9C6F-EB6F1010F6DA}"/>
              </a:ext>
            </a:extLst>
          </p:cNvPr>
          <p:cNvSpPr/>
          <p:nvPr/>
        </p:nvSpPr>
        <p:spPr>
          <a:xfrm>
            <a:off x="8191500" y="1524000"/>
            <a:ext cx="1016000" cy="3048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8F7F4"/>
                </a:solidFill>
              </a:rPr>
              <a:t>PHASE 3</a:t>
            </a:r>
            <a:endParaRPr lang="ko-US" sz="1000" b="1">
              <a:solidFill>
                <a:srgbClr val="F8F7F4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01265A-AF34-1346-80FF-45528C56D6C0}"/>
              </a:ext>
            </a:extLst>
          </p:cNvPr>
          <p:cNvSpPr txBox="1"/>
          <p:nvPr/>
        </p:nvSpPr>
        <p:spPr>
          <a:xfrm>
            <a:off x="8191500" y="1968500"/>
            <a:ext cx="304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600" b="1">
                <a:solidFill>
                  <a:srgbClr val="0F1729"/>
                </a:solidFill>
              </a:rPr>
              <a:t>Broader Canadian
Demand Capture</a:t>
            </a:r>
            <a:endParaRPr lang="ko-US" sz="1600" b="1">
              <a:solidFill>
                <a:srgbClr val="0F1729"/>
              </a:solidFill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6D9072F4-0D73-FC4A-8260-A7241BC595E8}"/>
              </a:ext>
            </a:extLst>
          </p:cNvPr>
          <p:cNvSpPr/>
          <p:nvPr/>
        </p:nvSpPr>
        <p:spPr>
          <a:xfrm>
            <a:off x="8191500" y="2705100"/>
            <a:ext cx="3048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F5CC76-87D5-964F-8D98-697247D92B45}"/>
              </a:ext>
            </a:extLst>
          </p:cNvPr>
          <p:cNvSpPr txBox="1"/>
          <p:nvPr/>
        </p:nvSpPr>
        <p:spPr>
          <a:xfrm>
            <a:off x="8191500" y="2832100"/>
            <a:ext cx="3048000" cy="165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전국 모기지 수요 포착
다국어 확장 검토
모기지 전문가 네트워크 효과
플랫폼 데이터 기반 성장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22" name="모서리가 둥근 직사각형 21">
            <a:extLst>
              <a:ext uri="{FF2B5EF4-FFF2-40B4-BE49-F238E27FC236}">
                <a16:creationId xmlns:a16="http://schemas.microsoft.com/office/drawing/2014/main" id="{0F7A4E7B-04AE-9040-A9D5-1BD78ECA41B0}"/>
              </a:ext>
            </a:extLst>
          </p:cNvPr>
          <p:cNvSpPr/>
          <p:nvPr/>
        </p:nvSpPr>
        <p:spPr>
          <a:xfrm>
            <a:off x="762000" y="4889500"/>
            <a:ext cx="10668000" cy="1016000"/>
          </a:xfrm>
          <a:prstGeom prst="round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70BFD3-5157-B847-A2FE-1BA4C26990B2}"/>
              </a:ext>
            </a:extLst>
          </p:cNvPr>
          <p:cNvSpPr txBox="1"/>
          <p:nvPr/>
        </p:nvSpPr>
        <p:spPr>
          <a:xfrm>
            <a:off x="1016000" y="49911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0F1729"/>
                </a:solidFill>
              </a:rPr>
              <a:t>핵심 획득 가설 </a:t>
            </a:r>
            <a:r>
              <a:rPr lang="en-US" altLang="ko-KR" sz="1400" b="1">
                <a:solidFill>
                  <a:srgbClr val="0F1729"/>
                </a:solidFill>
              </a:rPr>
              <a:t>(</a:t>
            </a:r>
            <a:r>
              <a:rPr lang="en-US" sz="1400" b="1">
                <a:solidFill>
                  <a:srgbClr val="0F1729"/>
                </a:solidFill>
              </a:rPr>
              <a:t>Acquisition Hypothesis)</a:t>
            </a:r>
            <a:endParaRPr lang="ko-US" sz="1400" b="1">
              <a:solidFill>
                <a:srgbClr val="0F1729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137D881-0BED-7549-A40F-4648ABAB3062}"/>
              </a:ext>
            </a:extLst>
          </p:cNvPr>
          <p:cNvSpPr txBox="1"/>
          <p:nvPr/>
        </p:nvSpPr>
        <p:spPr>
          <a:xfrm>
            <a:off x="1016000" y="5308600"/>
            <a:ext cx="10160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커뮤니티 파트너십  </a:t>
            </a:r>
            <a:r>
              <a:rPr lang="en-US" altLang="ko-KR" sz="1400">
                <a:solidFill>
                  <a:srgbClr val="1F2D52"/>
                </a:solidFill>
              </a:rPr>
              <a:t>·  </a:t>
            </a:r>
            <a:r>
              <a:rPr lang="ko-KR" altLang="en-US" sz="1400">
                <a:solidFill>
                  <a:srgbClr val="1F2D52"/>
                </a:solidFill>
              </a:rPr>
              <a:t>한국어 콘텐츠 마케팅  </a:t>
            </a:r>
            <a:r>
              <a:rPr lang="en-US" altLang="ko-KR" sz="1400">
                <a:solidFill>
                  <a:srgbClr val="1F2D52"/>
                </a:solidFill>
              </a:rPr>
              <a:t>·  </a:t>
            </a:r>
            <a:r>
              <a:rPr lang="ko-KR" altLang="en-US" sz="1400">
                <a:solidFill>
                  <a:srgbClr val="1F2D52"/>
                </a:solidFill>
              </a:rPr>
              <a:t>모기지 전문가 추천 루프  </a:t>
            </a:r>
            <a:r>
              <a:rPr lang="en-US" altLang="ko-KR" sz="1400">
                <a:solidFill>
                  <a:srgbClr val="1F2D52"/>
                </a:solidFill>
              </a:rPr>
              <a:t>·  </a:t>
            </a:r>
            <a:r>
              <a:rPr lang="ko-KR" altLang="en-US" sz="1400">
                <a:solidFill>
                  <a:srgbClr val="1F2D52"/>
                </a:solidFill>
              </a:rPr>
              <a:t>지역 집중 런칭</a:t>
            </a:r>
            <a:endParaRPr lang="ko-US" sz="1400">
              <a:solidFill>
                <a:srgbClr val="1F2D5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0530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9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7AFA06-E407-F14A-BA7E-3096DCD99FD7}"/>
              </a:ext>
            </a:extLst>
          </p:cNvPr>
          <p:cNvSpPr txBox="1"/>
          <p:nvPr/>
        </p:nvSpPr>
        <p:spPr>
          <a:xfrm>
            <a:off x="762000" y="3175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PRODUCT READINESS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7CCF7D7-A300-7444-9E56-10D9E1587825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9DB92B-21E6-5642-B427-E8825380B1FA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F8F7F4"/>
                </a:solidFill>
              </a:rPr>
              <a:t>이미 구축된 것</a:t>
            </a:r>
            <a:r>
              <a:rPr lang="en-US" altLang="ko-KR" sz="2200" b="1">
                <a:solidFill>
                  <a:srgbClr val="F8F7F4"/>
                </a:solidFill>
              </a:rPr>
              <a:t>: </a:t>
            </a:r>
            <a:r>
              <a:rPr lang="en-US" sz="2200" b="1">
                <a:solidFill>
                  <a:srgbClr val="F8F7F4"/>
                </a:solidFill>
              </a:rPr>
              <a:t>Concept</a:t>
            </a:r>
            <a:r>
              <a:rPr lang="ko-KR" altLang="en-US" sz="2200" b="1">
                <a:solidFill>
                  <a:srgbClr val="F8F7F4"/>
                </a:solidFill>
              </a:rPr>
              <a:t>이 아닌 </a:t>
            </a:r>
            <a:r>
              <a:rPr lang="en-US" sz="2200" b="1">
                <a:solidFill>
                  <a:srgbClr val="F8F7F4"/>
                </a:solidFill>
              </a:rPr>
              <a:t>Working MVP</a:t>
            </a:r>
            <a:endParaRPr lang="ko-US" sz="2200" b="1">
              <a:solidFill>
                <a:srgbClr val="F8F7F4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DCA02A56-7CB6-1E44-907B-DCB837215500}"/>
              </a:ext>
            </a:extLst>
          </p:cNvPr>
          <p:cNvSpPr/>
          <p:nvPr/>
        </p:nvSpPr>
        <p:spPr>
          <a:xfrm>
            <a:off x="762000" y="13716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1CF54639-BC8A-4C43-A695-5926C65E41B8}"/>
              </a:ext>
            </a:extLst>
          </p:cNvPr>
          <p:cNvSpPr/>
          <p:nvPr/>
        </p:nvSpPr>
        <p:spPr>
          <a:xfrm>
            <a:off x="889000" y="14859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D96241-96AC-2343-82DE-FB22ECACF28D}"/>
              </a:ext>
            </a:extLst>
          </p:cNvPr>
          <p:cNvSpPr txBox="1"/>
          <p:nvPr/>
        </p:nvSpPr>
        <p:spPr>
          <a:xfrm>
            <a:off x="1244600" y="14732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이중언어 공개 사이트 </a:t>
            </a:r>
            <a:r>
              <a:rPr lang="en-US" altLang="ko-KR" sz="1200">
                <a:solidFill>
                  <a:srgbClr val="F8F7F4"/>
                </a:solidFill>
              </a:rPr>
              <a:t>(</a:t>
            </a:r>
            <a:r>
              <a:rPr lang="en-US" sz="1200">
                <a:solidFill>
                  <a:srgbClr val="F8F7F4"/>
                </a:solidFill>
              </a:rPr>
              <a:t>KO/EN)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561F8366-C372-244F-8189-E60132C125A4}"/>
              </a:ext>
            </a:extLst>
          </p:cNvPr>
          <p:cNvSpPr/>
          <p:nvPr/>
        </p:nvSpPr>
        <p:spPr>
          <a:xfrm>
            <a:off x="4381500" y="13716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타원 8">
            <a:extLst>
              <a:ext uri="{FF2B5EF4-FFF2-40B4-BE49-F238E27FC236}">
                <a16:creationId xmlns:a16="http://schemas.microsoft.com/office/drawing/2014/main" id="{81D9A1B6-DFF8-BA42-94E1-9ADA4B3E62E8}"/>
              </a:ext>
            </a:extLst>
          </p:cNvPr>
          <p:cNvSpPr/>
          <p:nvPr/>
        </p:nvSpPr>
        <p:spPr>
          <a:xfrm>
            <a:off x="4508500" y="14859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56BDB2-2353-D646-9630-32D77A6A40EF}"/>
              </a:ext>
            </a:extLst>
          </p:cNvPr>
          <p:cNvSpPr txBox="1"/>
          <p:nvPr/>
        </p:nvSpPr>
        <p:spPr>
          <a:xfrm>
            <a:off x="4864100" y="14732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모기지 신청자 대시보드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6E7EF4FE-DB47-734E-AB19-8F0A8502D10E}"/>
              </a:ext>
            </a:extLst>
          </p:cNvPr>
          <p:cNvSpPr/>
          <p:nvPr/>
        </p:nvSpPr>
        <p:spPr>
          <a:xfrm>
            <a:off x="8001000" y="13716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C8402C22-698E-0141-9EF1-FD546205A413}"/>
              </a:ext>
            </a:extLst>
          </p:cNvPr>
          <p:cNvSpPr/>
          <p:nvPr/>
        </p:nvSpPr>
        <p:spPr>
          <a:xfrm>
            <a:off x="8128000" y="14859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DB305C-BA75-E04F-931E-0A102B79B28C}"/>
              </a:ext>
            </a:extLst>
          </p:cNvPr>
          <p:cNvSpPr txBox="1"/>
          <p:nvPr/>
        </p:nvSpPr>
        <p:spPr>
          <a:xfrm>
            <a:off x="8483600" y="14732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구조화된 요청 접수 </a:t>
            </a:r>
            <a:r>
              <a:rPr lang="en-US" altLang="ko-KR" sz="1200">
                <a:solidFill>
                  <a:srgbClr val="F8F7F4"/>
                </a:solidFill>
              </a:rPr>
              <a:t>(</a:t>
            </a:r>
            <a:r>
              <a:rPr lang="ko-KR" altLang="en-US" sz="1200">
                <a:solidFill>
                  <a:srgbClr val="F8F7F4"/>
                </a:solidFill>
              </a:rPr>
              <a:t>주거용</a:t>
            </a:r>
            <a:r>
              <a:rPr lang="en-US" altLang="ko-KR" sz="1200">
                <a:solidFill>
                  <a:srgbClr val="F8F7F4"/>
                </a:solidFill>
              </a:rPr>
              <a:t>/</a:t>
            </a:r>
            <a:r>
              <a:rPr lang="ko-KR" altLang="en-US" sz="1200">
                <a:solidFill>
                  <a:srgbClr val="F8F7F4"/>
                </a:solidFill>
              </a:rPr>
              <a:t>상업용</a:t>
            </a:r>
            <a:r>
              <a:rPr lang="en-US" altLang="ko-KR" sz="1200">
                <a:solidFill>
                  <a:srgbClr val="F8F7F4"/>
                </a:solidFill>
              </a:rPr>
              <a:t>)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F261D665-F14B-1F4C-ABBC-D0B98E823B95}"/>
              </a:ext>
            </a:extLst>
          </p:cNvPr>
          <p:cNvSpPr/>
          <p:nvPr/>
        </p:nvSpPr>
        <p:spPr>
          <a:xfrm>
            <a:off x="762000" y="19812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0016F34F-8D57-6C42-AE9F-D33BFA105CB8}"/>
              </a:ext>
            </a:extLst>
          </p:cNvPr>
          <p:cNvSpPr/>
          <p:nvPr/>
        </p:nvSpPr>
        <p:spPr>
          <a:xfrm>
            <a:off x="889000" y="20955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8C57A5B-AEFA-6441-9F51-5213DD2471BB}"/>
              </a:ext>
            </a:extLst>
          </p:cNvPr>
          <p:cNvSpPr txBox="1"/>
          <p:nvPr/>
        </p:nvSpPr>
        <p:spPr>
          <a:xfrm>
            <a:off x="1244600" y="20828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모기지 전문가 온보딩 프로필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19F6EF94-065C-8449-A238-57C0630E84FB}"/>
              </a:ext>
            </a:extLst>
          </p:cNvPr>
          <p:cNvSpPr/>
          <p:nvPr/>
        </p:nvSpPr>
        <p:spPr>
          <a:xfrm>
            <a:off x="4381500" y="19812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3157DA1-C006-D84A-BD41-24C5238974BA}"/>
              </a:ext>
            </a:extLst>
          </p:cNvPr>
          <p:cNvSpPr/>
          <p:nvPr/>
        </p:nvSpPr>
        <p:spPr>
          <a:xfrm>
            <a:off x="4508500" y="20955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599FABB-78C5-284F-BE1D-206C58A25577}"/>
              </a:ext>
            </a:extLst>
          </p:cNvPr>
          <p:cNvSpPr txBox="1"/>
          <p:nvPr/>
        </p:nvSpPr>
        <p:spPr>
          <a:xfrm>
            <a:off x="4864100" y="20828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관리자 검증 워크플로우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A2FA2453-0CDA-C647-8833-C4379E4866F0}"/>
              </a:ext>
            </a:extLst>
          </p:cNvPr>
          <p:cNvSpPr/>
          <p:nvPr/>
        </p:nvSpPr>
        <p:spPr>
          <a:xfrm>
            <a:off x="8001000" y="19812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타원 20">
            <a:extLst>
              <a:ext uri="{FF2B5EF4-FFF2-40B4-BE49-F238E27FC236}">
                <a16:creationId xmlns:a16="http://schemas.microsoft.com/office/drawing/2014/main" id="{E2159724-D66D-B44D-B29B-C130CFC6DD0A}"/>
              </a:ext>
            </a:extLst>
          </p:cNvPr>
          <p:cNvSpPr/>
          <p:nvPr/>
        </p:nvSpPr>
        <p:spPr>
          <a:xfrm>
            <a:off x="8128000" y="20955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2EB2D3-0A3C-9947-8462-EEA19944AD22}"/>
              </a:ext>
            </a:extLst>
          </p:cNvPr>
          <p:cNvSpPr txBox="1"/>
          <p:nvPr/>
        </p:nvSpPr>
        <p:spPr>
          <a:xfrm>
            <a:off x="8483600" y="20828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Stripe </a:t>
            </a:r>
            <a:r>
              <a:rPr lang="ko-KR" altLang="en-US" sz="1200">
                <a:solidFill>
                  <a:srgbClr val="F8F7F4"/>
                </a:solidFill>
              </a:rPr>
              <a:t>기반 구독 결제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13B69C47-B0EB-3E40-882F-35A127EEDB26}"/>
              </a:ext>
            </a:extLst>
          </p:cNvPr>
          <p:cNvSpPr/>
          <p:nvPr/>
        </p:nvSpPr>
        <p:spPr>
          <a:xfrm>
            <a:off x="762000" y="25908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F2447859-1E55-2F47-BB29-92B63BB368FA}"/>
              </a:ext>
            </a:extLst>
          </p:cNvPr>
          <p:cNvSpPr/>
          <p:nvPr/>
        </p:nvSpPr>
        <p:spPr>
          <a:xfrm>
            <a:off x="889000" y="27051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2FD333-0E49-BC4D-9F53-9FCF28C16A57}"/>
              </a:ext>
            </a:extLst>
          </p:cNvPr>
          <p:cNvSpPr txBox="1"/>
          <p:nvPr/>
        </p:nvSpPr>
        <p:spPr>
          <a:xfrm>
            <a:off x="1244600" y="26924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실시간 메시징 </a:t>
            </a:r>
            <a:r>
              <a:rPr lang="en-US" altLang="ko-KR" sz="1200">
                <a:solidFill>
                  <a:srgbClr val="F8F7F4"/>
                </a:solidFill>
              </a:rPr>
              <a:t>(</a:t>
            </a:r>
            <a:r>
              <a:rPr lang="en-US" sz="1200">
                <a:solidFill>
                  <a:srgbClr val="F8F7F4"/>
                </a:solidFill>
              </a:rPr>
              <a:t>Supabase)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50435585-430E-7049-ADBB-DBE94B526939}"/>
              </a:ext>
            </a:extLst>
          </p:cNvPr>
          <p:cNvSpPr/>
          <p:nvPr/>
        </p:nvSpPr>
        <p:spPr>
          <a:xfrm>
            <a:off x="4381500" y="25908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66574D8F-3F5B-5748-82A3-7538E5DE42F8}"/>
              </a:ext>
            </a:extLst>
          </p:cNvPr>
          <p:cNvSpPr/>
          <p:nvPr/>
        </p:nvSpPr>
        <p:spPr>
          <a:xfrm>
            <a:off x="4508500" y="27051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2C15437-3137-264C-B276-751A0AAF456A}"/>
              </a:ext>
            </a:extLst>
          </p:cNvPr>
          <p:cNvSpPr txBox="1"/>
          <p:nvPr/>
        </p:nvSpPr>
        <p:spPr>
          <a:xfrm>
            <a:off x="4864100" y="26924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신고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공지 시스템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25C13242-0E44-CA43-BDF9-F563401238F9}"/>
              </a:ext>
            </a:extLst>
          </p:cNvPr>
          <p:cNvSpPr/>
          <p:nvPr/>
        </p:nvSpPr>
        <p:spPr>
          <a:xfrm>
            <a:off x="8001000" y="25908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0" name="타원 29">
            <a:extLst>
              <a:ext uri="{FF2B5EF4-FFF2-40B4-BE49-F238E27FC236}">
                <a16:creationId xmlns:a16="http://schemas.microsoft.com/office/drawing/2014/main" id="{75DD2DBC-A344-7A49-8423-ED8FF304680A}"/>
              </a:ext>
            </a:extLst>
          </p:cNvPr>
          <p:cNvSpPr/>
          <p:nvPr/>
        </p:nvSpPr>
        <p:spPr>
          <a:xfrm>
            <a:off x="8128000" y="27051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2996C13-A10A-3849-A631-1D6B7EA835FF}"/>
              </a:ext>
            </a:extLst>
          </p:cNvPr>
          <p:cNvSpPr txBox="1"/>
          <p:nvPr/>
        </p:nvSpPr>
        <p:spPr>
          <a:xfrm>
            <a:off x="8483600" y="26924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분석 계측 </a:t>
            </a:r>
            <a:r>
              <a:rPr lang="en-US" altLang="ko-KR" sz="1200">
                <a:solidFill>
                  <a:srgbClr val="F8F7F4"/>
                </a:solidFill>
              </a:rPr>
              <a:t>(</a:t>
            </a:r>
            <a:r>
              <a:rPr lang="en-US" sz="1200">
                <a:solidFill>
                  <a:srgbClr val="F8F7F4"/>
                </a:solidFill>
              </a:rPr>
              <a:t>PostHog)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32" name="모서리가 둥근 직사각형 31">
            <a:extLst>
              <a:ext uri="{FF2B5EF4-FFF2-40B4-BE49-F238E27FC236}">
                <a16:creationId xmlns:a16="http://schemas.microsoft.com/office/drawing/2014/main" id="{1DB2352D-12B0-0346-BCBF-1294501B867C}"/>
              </a:ext>
            </a:extLst>
          </p:cNvPr>
          <p:cNvSpPr/>
          <p:nvPr/>
        </p:nvSpPr>
        <p:spPr>
          <a:xfrm>
            <a:off x="762000" y="32004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3" name="타원 32">
            <a:extLst>
              <a:ext uri="{FF2B5EF4-FFF2-40B4-BE49-F238E27FC236}">
                <a16:creationId xmlns:a16="http://schemas.microsoft.com/office/drawing/2014/main" id="{D2AC7F95-0B99-8E4C-B681-F1324609924C}"/>
              </a:ext>
            </a:extLst>
          </p:cNvPr>
          <p:cNvSpPr/>
          <p:nvPr/>
        </p:nvSpPr>
        <p:spPr>
          <a:xfrm>
            <a:off x="889000" y="33147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798319E-FB5D-4144-9FFD-7BD68C4AAFC1}"/>
              </a:ext>
            </a:extLst>
          </p:cNvPr>
          <p:cNvSpPr txBox="1"/>
          <p:nvPr/>
        </p:nvSpPr>
        <p:spPr>
          <a:xfrm>
            <a:off x="1244600" y="33020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이메일 인증</a:t>
            </a:r>
            <a:r>
              <a:rPr lang="en-US" altLang="ko-KR" sz="1200">
                <a:solidFill>
                  <a:srgbClr val="F8F7F4"/>
                </a:solidFill>
              </a:rPr>
              <a:t>·</a:t>
            </a:r>
            <a:r>
              <a:rPr lang="ko-KR" altLang="en-US" sz="1200">
                <a:solidFill>
                  <a:srgbClr val="F8F7F4"/>
                </a:solidFill>
              </a:rPr>
              <a:t>비밀번호 재설정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1FEF9D27-3494-C44B-A32D-E133E78D0FB4}"/>
              </a:ext>
            </a:extLst>
          </p:cNvPr>
          <p:cNvSpPr/>
          <p:nvPr/>
        </p:nvSpPr>
        <p:spPr>
          <a:xfrm>
            <a:off x="4381500" y="32004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6" name="타원 35">
            <a:extLst>
              <a:ext uri="{FF2B5EF4-FFF2-40B4-BE49-F238E27FC236}">
                <a16:creationId xmlns:a16="http://schemas.microsoft.com/office/drawing/2014/main" id="{1BD621C2-52BF-C24B-9800-C06B2CFF3A6A}"/>
              </a:ext>
            </a:extLst>
          </p:cNvPr>
          <p:cNvSpPr/>
          <p:nvPr/>
        </p:nvSpPr>
        <p:spPr>
          <a:xfrm>
            <a:off x="4508500" y="33147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1AD6E0C-90FB-3C49-A5AB-3D9DBE0BB81D}"/>
              </a:ext>
            </a:extLst>
          </p:cNvPr>
          <p:cNvSpPr txBox="1"/>
          <p:nvPr/>
        </p:nvSpPr>
        <p:spPr>
          <a:xfrm>
            <a:off x="4864100" y="33020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Google </a:t>
            </a:r>
            <a:r>
              <a:rPr lang="ko-KR" altLang="en-US" sz="1200">
                <a:solidFill>
                  <a:srgbClr val="F8F7F4"/>
                </a:solidFill>
              </a:rPr>
              <a:t>소셜 로그인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7CA32CAF-DC90-4C48-BEBC-B9F2244A5153}"/>
              </a:ext>
            </a:extLst>
          </p:cNvPr>
          <p:cNvSpPr/>
          <p:nvPr/>
        </p:nvSpPr>
        <p:spPr>
          <a:xfrm>
            <a:off x="8001000" y="32004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9" name="타원 38">
            <a:extLst>
              <a:ext uri="{FF2B5EF4-FFF2-40B4-BE49-F238E27FC236}">
                <a16:creationId xmlns:a16="http://schemas.microsoft.com/office/drawing/2014/main" id="{4EF401AF-0687-B14F-9B48-1B1B22AA3A06}"/>
              </a:ext>
            </a:extLst>
          </p:cNvPr>
          <p:cNvSpPr/>
          <p:nvPr/>
        </p:nvSpPr>
        <p:spPr>
          <a:xfrm>
            <a:off x="8128000" y="33147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F50DE8-5913-8F4A-BA98-FEC7AB618509}"/>
              </a:ext>
            </a:extLst>
          </p:cNvPr>
          <p:cNvSpPr txBox="1"/>
          <p:nvPr/>
        </p:nvSpPr>
        <p:spPr>
          <a:xfrm>
            <a:off x="8483600" y="33020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정책 자동화 </a:t>
            </a:r>
            <a:r>
              <a:rPr lang="en-US" altLang="ko-KR" sz="1200">
                <a:solidFill>
                  <a:srgbClr val="F8F7F4"/>
                </a:solidFill>
              </a:rPr>
              <a:t>(</a:t>
            </a:r>
            <a:r>
              <a:rPr lang="en-US" sz="1200">
                <a:solidFill>
                  <a:srgbClr val="F8F7F4"/>
                </a:solidFill>
              </a:rPr>
              <a:t>Cron)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7B7739D2-BE35-ED40-9743-D81E4C488FB4}"/>
              </a:ext>
            </a:extLst>
          </p:cNvPr>
          <p:cNvSpPr/>
          <p:nvPr/>
        </p:nvSpPr>
        <p:spPr>
          <a:xfrm>
            <a:off x="762000" y="38100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2" name="타원 41">
            <a:extLst>
              <a:ext uri="{FF2B5EF4-FFF2-40B4-BE49-F238E27FC236}">
                <a16:creationId xmlns:a16="http://schemas.microsoft.com/office/drawing/2014/main" id="{5BA31E89-8971-E148-BC73-40BE2566A197}"/>
              </a:ext>
            </a:extLst>
          </p:cNvPr>
          <p:cNvSpPr/>
          <p:nvPr/>
        </p:nvSpPr>
        <p:spPr>
          <a:xfrm>
            <a:off x="889000" y="39243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C3DE8A0-59D6-504B-9792-BF4EE5CE1516}"/>
              </a:ext>
            </a:extLst>
          </p:cNvPr>
          <p:cNvSpPr txBox="1"/>
          <p:nvPr/>
        </p:nvSpPr>
        <p:spPr>
          <a:xfrm>
            <a:off x="1244600" y="39116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SEO/OG/</a:t>
            </a:r>
            <a:r>
              <a:rPr lang="ko-KR" altLang="en-US" sz="1200">
                <a:solidFill>
                  <a:srgbClr val="F8F7F4"/>
                </a:solidFill>
              </a:rPr>
              <a:t>메타 최적화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44" name="모서리가 둥근 직사각형 43">
            <a:extLst>
              <a:ext uri="{FF2B5EF4-FFF2-40B4-BE49-F238E27FC236}">
                <a16:creationId xmlns:a16="http://schemas.microsoft.com/office/drawing/2014/main" id="{A37BCBD4-B531-3D4C-9E40-0D38FA2BF191}"/>
              </a:ext>
            </a:extLst>
          </p:cNvPr>
          <p:cNvSpPr/>
          <p:nvPr/>
        </p:nvSpPr>
        <p:spPr>
          <a:xfrm>
            <a:off x="4381500" y="38100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5" name="타원 44">
            <a:extLst>
              <a:ext uri="{FF2B5EF4-FFF2-40B4-BE49-F238E27FC236}">
                <a16:creationId xmlns:a16="http://schemas.microsoft.com/office/drawing/2014/main" id="{A4066306-E53F-FB40-B448-C9B0D1E8DF2A}"/>
              </a:ext>
            </a:extLst>
          </p:cNvPr>
          <p:cNvSpPr/>
          <p:nvPr/>
        </p:nvSpPr>
        <p:spPr>
          <a:xfrm>
            <a:off x="4508500" y="39243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A28ADFD-DA12-D641-B28F-5B7EEE96DBBD}"/>
              </a:ext>
            </a:extLst>
          </p:cNvPr>
          <p:cNvSpPr txBox="1"/>
          <p:nvPr/>
        </p:nvSpPr>
        <p:spPr>
          <a:xfrm>
            <a:off x="4864100" y="39116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PWA </a:t>
            </a:r>
            <a:r>
              <a:rPr lang="ko-KR" altLang="en-US" sz="1200">
                <a:solidFill>
                  <a:srgbClr val="F8F7F4"/>
                </a:solidFill>
              </a:rPr>
              <a:t>지원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47" name="모서리가 둥근 직사각형 46">
            <a:extLst>
              <a:ext uri="{FF2B5EF4-FFF2-40B4-BE49-F238E27FC236}">
                <a16:creationId xmlns:a16="http://schemas.microsoft.com/office/drawing/2014/main" id="{D036AF77-A2E6-8F45-9410-C03A8D088490}"/>
              </a:ext>
            </a:extLst>
          </p:cNvPr>
          <p:cNvSpPr/>
          <p:nvPr/>
        </p:nvSpPr>
        <p:spPr>
          <a:xfrm>
            <a:off x="8001000" y="3810000"/>
            <a:ext cx="3429000" cy="4826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8" name="타원 47">
            <a:extLst>
              <a:ext uri="{FF2B5EF4-FFF2-40B4-BE49-F238E27FC236}">
                <a16:creationId xmlns:a16="http://schemas.microsoft.com/office/drawing/2014/main" id="{7B877F7D-150B-7242-B03A-7A1106461C53}"/>
              </a:ext>
            </a:extLst>
          </p:cNvPr>
          <p:cNvSpPr/>
          <p:nvPr/>
        </p:nvSpPr>
        <p:spPr>
          <a:xfrm>
            <a:off x="8128000" y="3924300"/>
            <a:ext cx="254000" cy="2540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US" sz="1100" b="1">
                <a:solidFill>
                  <a:srgbClr val="0F1729"/>
                </a:solidFill>
              </a:rPr>
              <a:t>✓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8AB62EF-97C0-914D-BE5B-69B62AA826A2}"/>
              </a:ext>
            </a:extLst>
          </p:cNvPr>
          <p:cNvSpPr txBox="1"/>
          <p:nvPr/>
        </p:nvSpPr>
        <p:spPr>
          <a:xfrm>
            <a:off x="8483600" y="3911600"/>
            <a:ext cx="2794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관리자 감사 로그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6844E98F-AB3E-CA41-BB3D-245AC43CE159}"/>
              </a:ext>
            </a:extLst>
          </p:cNvPr>
          <p:cNvSpPr txBox="1"/>
          <p:nvPr/>
        </p:nvSpPr>
        <p:spPr>
          <a:xfrm>
            <a:off x="762000" y="5969000"/>
            <a:ext cx="10668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D4A853"/>
                </a:solidFill>
              </a:rPr>
              <a:t>운영 깊이를 갖춘 실제 마켓플레이스 </a:t>
            </a:r>
            <a:r>
              <a:rPr lang="en-US" altLang="ko-KR" sz="1600" b="1">
                <a:solidFill>
                  <a:srgbClr val="D4A853"/>
                </a:solidFill>
              </a:rPr>
              <a:t>— </a:t>
            </a:r>
            <a:r>
              <a:rPr lang="ko-KR" altLang="en-US" sz="1600" b="1">
                <a:solidFill>
                  <a:srgbClr val="D4A853"/>
                </a:solidFill>
              </a:rPr>
              <a:t>컨셉이 아닌 제품입니다</a:t>
            </a:r>
            <a:endParaRPr lang="ko-US" sz="1600" b="1">
              <a:solidFill>
                <a:srgbClr val="D4A8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10997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686FD8F-FA12-0247-9273-B004F19DE03F}"/>
              </a:ext>
            </a:extLst>
          </p:cNvPr>
          <p:cNvSpPr txBox="1"/>
          <p:nvPr/>
        </p:nvSpPr>
        <p:spPr>
          <a:xfrm>
            <a:off x="762000" y="317500"/>
            <a:ext cx="381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TECH &amp; SCALABILITY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89CF9732-46FC-E640-BDA7-FDC9E6B1A9AB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5B1701-168A-9F42-A5E4-8F81773C4843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기술 기반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빠른 반복과 운영 통제가 가능한 구조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206D5DA1-061A-DF47-ADB2-50FD4E28E281}"/>
              </a:ext>
            </a:extLst>
          </p:cNvPr>
          <p:cNvSpPr/>
          <p:nvPr/>
        </p:nvSpPr>
        <p:spPr>
          <a:xfrm>
            <a:off x="762000" y="1333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1F8AABFA-1009-9248-8E21-3D6A7D489007}"/>
              </a:ext>
            </a:extLst>
          </p:cNvPr>
          <p:cNvSpPr/>
          <p:nvPr/>
        </p:nvSpPr>
        <p:spPr>
          <a:xfrm>
            <a:off x="914400" y="1435100"/>
            <a:ext cx="1270000" cy="330200"/>
          </a:xfrm>
          <a:prstGeom prst="round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Frontend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E2313C-C67F-D749-9703-95E48BA52D33}"/>
              </a:ext>
            </a:extLst>
          </p:cNvPr>
          <p:cNvSpPr txBox="1"/>
          <p:nvPr/>
        </p:nvSpPr>
        <p:spPr>
          <a:xfrm>
            <a:off x="2349500" y="1460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Next.js 16 · React 19 · TypeScript · Tailwind CSS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A14510FB-83EA-E840-8030-0C8C45930E7A}"/>
              </a:ext>
            </a:extLst>
          </p:cNvPr>
          <p:cNvSpPr/>
          <p:nvPr/>
        </p:nvSpPr>
        <p:spPr>
          <a:xfrm>
            <a:off x="762000" y="1968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98BFE38C-4370-C145-A987-068C87FF6F5D}"/>
              </a:ext>
            </a:extLst>
          </p:cNvPr>
          <p:cNvSpPr/>
          <p:nvPr/>
        </p:nvSpPr>
        <p:spPr>
          <a:xfrm>
            <a:off x="914400" y="2070100"/>
            <a:ext cx="1270000" cy="330200"/>
          </a:xfrm>
          <a:prstGeom prst="roundRect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Backend / DB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AD5C6-B180-5D47-AE77-620D4D80E4AA}"/>
              </a:ext>
            </a:extLst>
          </p:cNvPr>
          <p:cNvSpPr txBox="1"/>
          <p:nvPr/>
        </p:nvSpPr>
        <p:spPr>
          <a:xfrm>
            <a:off x="2349500" y="2095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Prisma ORM · PostgreSQL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B194AC58-8D7E-A247-9579-DF9510430088}"/>
              </a:ext>
            </a:extLst>
          </p:cNvPr>
          <p:cNvSpPr/>
          <p:nvPr/>
        </p:nvSpPr>
        <p:spPr>
          <a:xfrm>
            <a:off x="762000" y="2603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45056D4E-F385-404D-8F67-0EF1D8D42096}"/>
              </a:ext>
            </a:extLst>
          </p:cNvPr>
          <p:cNvSpPr/>
          <p:nvPr/>
        </p:nvSpPr>
        <p:spPr>
          <a:xfrm>
            <a:off x="914400" y="2705100"/>
            <a:ext cx="1270000" cy="330200"/>
          </a:xfrm>
          <a:prstGeom prst="roundRect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</a:rPr>
              <a:t>인증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49FB06-EAD4-9C4E-B9A5-68667B03F66C}"/>
              </a:ext>
            </a:extLst>
          </p:cNvPr>
          <p:cNvSpPr txBox="1"/>
          <p:nvPr/>
        </p:nvSpPr>
        <p:spPr>
          <a:xfrm>
            <a:off x="2349500" y="2730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NextAuth · Google OAuth · </a:t>
            </a:r>
            <a:r>
              <a:rPr lang="ko-KR" altLang="en-US" sz="1400">
                <a:solidFill>
                  <a:srgbClr val="1F2D52"/>
                </a:solidFill>
              </a:rPr>
              <a:t>이메일 인증 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Resend)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D425364D-47B5-0343-A08E-FBC8FE62B190}"/>
              </a:ext>
            </a:extLst>
          </p:cNvPr>
          <p:cNvSpPr/>
          <p:nvPr/>
        </p:nvSpPr>
        <p:spPr>
          <a:xfrm>
            <a:off x="762000" y="3238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F754CC1D-32F9-A54F-AA3A-3A21072E28BF}"/>
              </a:ext>
            </a:extLst>
          </p:cNvPr>
          <p:cNvSpPr/>
          <p:nvPr/>
        </p:nvSpPr>
        <p:spPr>
          <a:xfrm>
            <a:off x="914400" y="3340100"/>
            <a:ext cx="1270000" cy="330200"/>
          </a:xfrm>
          <a:prstGeom prst="roundRect">
            <a:avLst/>
          </a:prstGeom>
          <a:solidFill>
            <a:srgbClr val="A881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</a:rPr>
              <a:t>실시간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7DC1E5-62DB-E84B-BD38-EC0FAFCAEA39}"/>
              </a:ext>
            </a:extLst>
          </p:cNvPr>
          <p:cNvSpPr txBox="1"/>
          <p:nvPr/>
        </p:nvSpPr>
        <p:spPr>
          <a:xfrm>
            <a:off x="2349500" y="3365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Supabase Realtime (</a:t>
            </a:r>
            <a:r>
              <a:rPr lang="ko-KR" altLang="en-US" sz="1400">
                <a:solidFill>
                  <a:srgbClr val="1F2D52"/>
                </a:solidFill>
              </a:rPr>
              <a:t>메시징</a:t>
            </a:r>
            <a:r>
              <a:rPr lang="en-US" altLang="ko-KR" sz="1400">
                <a:solidFill>
                  <a:srgbClr val="1F2D52"/>
                </a:solidFill>
              </a:rPr>
              <a:t>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7" name="모서리가 둥근 직사각형 16">
            <a:extLst>
              <a:ext uri="{FF2B5EF4-FFF2-40B4-BE49-F238E27FC236}">
                <a16:creationId xmlns:a16="http://schemas.microsoft.com/office/drawing/2014/main" id="{F7712556-4048-3A45-8287-28AC936BB259}"/>
              </a:ext>
            </a:extLst>
          </p:cNvPr>
          <p:cNvSpPr/>
          <p:nvPr/>
        </p:nvSpPr>
        <p:spPr>
          <a:xfrm>
            <a:off x="762000" y="3873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8" name="모서리가 둥근 직사각형 17">
            <a:extLst>
              <a:ext uri="{FF2B5EF4-FFF2-40B4-BE49-F238E27FC236}">
                <a16:creationId xmlns:a16="http://schemas.microsoft.com/office/drawing/2014/main" id="{14259778-61F0-7B41-9C6E-F1ECA6E6E599}"/>
              </a:ext>
            </a:extLst>
          </p:cNvPr>
          <p:cNvSpPr/>
          <p:nvPr/>
        </p:nvSpPr>
        <p:spPr>
          <a:xfrm>
            <a:off x="914400" y="3975100"/>
            <a:ext cx="1270000" cy="3302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</a:rPr>
              <a:t>결제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C45B6A-88AB-954D-8873-3F1CF07FC581}"/>
              </a:ext>
            </a:extLst>
          </p:cNvPr>
          <p:cNvSpPr txBox="1"/>
          <p:nvPr/>
        </p:nvSpPr>
        <p:spPr>
          <a:xfrm>
            <a:off x="2349500" y="4000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Stripe (</a:t>
            </a:r>
            <a:r>
              <a:rPr lang="ko-KR" altLang="en-US" sz="1400">
                <a:solidFill>
                  <a:srgbClr val="1F2D52"/>
                </a:solidFill>
              </a:rPr>
              <a:t>구독 </a:t>
            </a:r>
            <a:r>
              <a:rPr lang="en-US" altLang="ko-KR" sz="1400">
                <a:solidFill>
                  <a:srgbClr val="1F2D52"/>
                </a:solidFill>
              </a:rPr>
              <a:t>· </a:t>
            </a:r>
            <a:r>
              <a:rPr lang="ko-KR" altLang="en-US" sz="1400">
                <a:solidFill>
                  <a:srgbClr val="1F2D52"/>
                </a:solidFill>
              </a:rPr>
              <a:t>인보이스 </a:t>
            </a:r>
            <a:r>
              <a:rPr lang="en-US" altLang="ko-KR" sz="1400">
                <a:solidFill>
                  <a:srgbClr val="1F2D52"/>
                </a:solidFill>
              </a:rPr>
              <a:t>· </a:t>
            </a:r>
            <a:r>
              <a:rPr lang="ko-KR" altLang="en-US" sz="1400">
                <a:solidFill>
                  <a:srgbClr val="1F2D52"/>
                </a:solidFill>
              </a:rPr>
              <a:t>고객 포털</a:t>
            </a:r>
            <a:r>
              <a:rPr lang="en-US" altLang="ko-KR" sz="1400">
                <a:solidFill>
                  <a:srgbClr val="1F2D52"/>
                </a:solidFill>
              </a:rPr>
              <a:t>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5356865B-3758-8444-B4BB-D04ED4094E72}"/>
              </a:ext>
            </a:extLst>
          </p:cNvPr>
          <p:cNvSpPr/>
          <p:nvPr/>
        </p:nvSpPr>
        <p:spPr>
          <a:xfrm>
            <a:off x="762000" y="4508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03E1CE50-AF76-D743-A27C-F08AF4EDEE8F}"/>
              </a:ext>
            </a:extLst>
          </p:cNvPr>
          <p:cNvSpPr/>
          <p:nvPr/>
        </p:nvSpPr>
        <p:spPr>
          <a:xfrm>
            <a:off x="914400" y="4610100"/>
            <a:ext cx="1270000" cy="330200"/>
          </a:xfrm>
          <a:prstGeom prst="roundRect">
            <a:avLst/>
          </a:prstGeom>
          <a:solidFill>
            <a:srgbClr val="1F2D5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</a:rPr>
              <a:t>분석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7FA55F7-ED21-9F40-85A2-1F60607A1A09}"/>
              </a:ext>
            </a:extLst>
          </p:cNvPr>
          <p:cNvSpPr txBox="1"/>
          <p:nvPr/>
        </p:nvSpPr>
        <p:spPr>
          <a:xfrm>
            <a:off x="2349500" y="4635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PostHog · Vercel Analytics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23" name="모서리가 둥근 직사각형 22">
            <a:extLst>
              <a:ext uri="{FF2B5EF4-FFF2-40B4-BE49-F238E27FC236}">
                <a16:creationId xmlns:a16="http://schemas.microsoft.com/office/drawing/2014/main" id="{6A3B9ABD-CB41-FB4F-A927-22B40D74B201}"/>
              </a:ext>
            </a:extLst>
          </p:cNvPr>
          <p:cNvSpPr/>
          <p:nvPr/>
        </p:nvSpPr>
        <p:spPr>
          <a:xfrm>
            <a:off x="762000" y="5143500"/>
            <a:ext cx="6604000" cy="5334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7194ADFB-AE73-0B42-942B-B8072499784E}"/>
              </a:ext>
            </a:extLst>
          </p:cNvPr>
          <p:cNvSpPr/>
          <p:nvPr/>
        </p:nvSpPr>
        <p:spPr>
          <a:xfrm>
            <a:off x="914400" y="5245100"/>
            <a:ext cx="1270000" cy="330200"/>
          </a:xfrm>
          <a:prstGeom prst="round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ko-KR" altLang="en-US" sz="1100" b="1">
                <a:solidFill>
                  <a:srgbClr val="FFFFFF"/>
                </a:solidFill>
              </a:rPr>
              <a:t>국제화</a:t>
            </a:r>
            <a:endParaRPr lang="ko-US" sz="1100" b="1">
              <a:solidFill>
                <a:srgbClr val="FFFFFF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74F31BB-CF48-7045-9147-AA377415EF4F}"/>
              </a:ext>
            </a:extLst>
          </p:cNvPr>
          <p:cNvSpPr txBox="1"/>
          <p:nvPr/>
        </p:nvSpPr>
        <p:spPr>
          <a:xfrm>
            <a:off x="2349500" y="5270500"/>
            <a:ext cx="482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>
                <a:solidFill>
                  <a:srgbClr val="1F2D52"/>
                </a:solidFill>
              </a:rPr>
              <a:t>next-i18next (</a:t>
            </a:r>
            <a:r>
              <a:rPr lang="ko-KR" altLang="en-US" sz="1400">
                <a:solidFill>
                  <a:srgbClr val="1F2D52"/>
                </a:solidFill>
              </a:rPr>
              <a:t>한국어</a:t>
            </a:r>
            <a:r>
              <a:rPr lang="en-US" altLang="ko-KR" sz="1400">
                <a:solidFill>
                  <a:srgbClr val="1F2D52"/>
                </a:solidFill>
              </a:rPr>
              <a:t>/</a:t>
            </a:r>
            <a:r>
              <a:rPr lang="ko-KR" altLang="en-US" sz="1400">
                <a:solidFill>
                  <a:srgbClr val="1F2D52"/>
                </a:solidFill>
              </a:rPr>
              <a:t>영어</a:t>
            </a:r>
            <a:r>
              <a:rPr lang="en-US" altLang="ko-KR" sz="1400">
                <a:solidFill>
                  <a:srgbClr val="1F2D52"/>
                </a:solidFill>
              </a:rPr>
              <a:t>)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26" name="모서리가 둥근 직사각형 25">
            <a:extLst>
              <a:ext uri="{FF2B5EF4-FFF2-40B4-BE49-F238E27FC236}">
                <a16:creationId xmlns:a16="http://schemas.microsoft.com/office/drawing/2014/main" id="{AC25FBA5-48AD-794B-B46C-4E721B65676D}"/>
              </a:ext>
            </a:extLst>
          </p:cNvPr>
          <p:cNvSpPr/>
          <p:nvPr/>
        </p:nvSpPr>
        <p:spPr>
          <a:xfrm>
            <a:off x="7620000" y="1333500"/>
            <a:ext cx="3810000" cy="44450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6A763F2-61EB-AC45-9E0E-0AC0CAD39248}"/>
              </a:ext>
            </a:extLst>
          </p:cNvPr>
          <p:cNvSpPr txBox="1"/>
          <p:nvPr/>
        </p:nvSpPr>
        <p:spPr>
          <a:xfrm>
            <a:off x="7874000" y="1498600"/>
            <a:ext cx="330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600" b="1">
                <a:solidFill>
                  <a:srgbClr val="D4A853"/>
                </a:solidFill>
              </a:rPr>
              <a:t>확장성</a:t>
            </a:r>
            <a:endParaRPr lang="ko-US" sz="1600" b="1">
              <a:solidFill>
                <a:srgbClr val="D4A853"/>
              </a:solidFill>
            </a:endParaRPr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16F08396-8BC0-7942-9B27-D5C3DBEB19E2}"/>
              </a:ext>
            </a:extLst>
          </p:cNvPr>
          <p:cNvSpPr/>
          <p:nvPr/>
        </p:nvSpPr>
        <p:spPr>
          <a:xfrm>
            <a:off x="7874000" y="20193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5C2CF00-8DDE-6445-BBCD-F29AD4DCB3F3}"/>
              </a:ext>
            </a:extLst>
          </p:cNvPr>
          <p:cNvSpPr txBox="1"/>
          <p:nvPr/>
        </p:nvSpPr>
        <p:spPr>
          <a:xfrm>
            <a:off x="8102600" y="19685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빠른 반복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5FF1ABE-4AAB-A44B-B894-7AEB610B629F}"/>
              </a:ext>
            </a:extLst>
          </p:cNvPr>
          <p:cNvSpPr txBox="1"/>
          <p:nvPr/>
        </p:nvSpPr>
        <p:spPr>
          <a:xfrm>
            <a:off x="8102600" y="2247900"/>
            <a:ext cx="304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Next.js + TypeScript</a:t>
            </a:r>
            <a:r>
              <a:rPr lang="ko-KR" altLang="en-US" sz="1200">
                <a:solidFill>
                  <a:srgbClr val="F8F7F4"/>
                </a:solidFill>
              </a:rPr>
              <a:t>로
빠른 기능 개발과 배포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12C51BD3-502F-3245-94E4-4002E00352DC}"/>
              </a:ext>
            </a:extLst>
          </p:cNvPr>
          <p:cNvSpPr/>
          <p:nvPr/>
        </p:nvSpPr>
        <p:spPr>
          <a:xfrm>
            <a:off x="7874000" y="29337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94471B2-18C5-6E44-BACC-EEA3200CFE05}"/>
              </a:ext>
            </a:extLst>
          </p:cNvPr>
          <p:cNvSpPr txBox="1"/>
          <p:nvPr/>
        </p:nvSpPr>
        <p:spPr>
          <a:xfrm>
            <a:off x="8102600" y="28829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운영 통제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2F60A9F-13BD-5943-B400-0637A5115881}"/>
              </a:ext>
            </a:extLst>
          </p:cNvPr>
          <p:cNvSpPr txBox="1"/>
          <p:nvPr/>
        </p:nvSpPr>
        <p:spPr>
          <a:xfrm>
            <a:off x="8102600" y="3162300"/>
            <a:ext cx="304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관리자 콘솔과 시스템 설정으로
실시간 정책 조정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34" name="타원 33">
            <a:extLst>
              <a:ext uri="{FF2B5EF4-FFF2-40B4-BE49-F238E27FC236}">
                <a16:creationId xmlns:a16="http://schemas.microsoft.com/office/drawing/2014/main" id="{B44FDCCB-D87E-594B-8CE3-E0F6140A7FF2}"/>
              </a:ext>
            </a:extLst>
          </p:cNvPr>
          <p:cNvSpPr/>
          <p:nvPr/>
        </p:nvSpPr>
        <p:spPr>
          <a:xfrm>
            <a:off x="7874000" y="38481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860371E-0999-B843-8793-D84394991B88}"/>
              </a:ext>
            </a:extLst>
          </p:cNvPr>
          <p:cNvSpPr txBox="1"/>
          <p:nvPr/>
        </p:nvSpPr>
        <p:spPr>
          <a:xfrm>
            <a:off x="8102600" y="37973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이중언어 확장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65FD015-6836-6E40-9C68-244275451156}"/>
              </a:ext>
            </a:extLst>
          </p:cNvPr>
          <p:cNvSpPr txBox="1"/>
          <p:nvPr/>
        </p:nvSpPr>
        <p:spPr>
          <a:xfrm>
            <a:off x="8102600" y="4076700"/>
            <a:ext cx="304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F8F7F4"/>
                </a:solidFill>
              </a:rPr>
              <a:t>next-i18next </a:t>
            </a:r>
            <a:r>
              <a:rPr lang="ko-KR" altLang="en-US" sz="1200">
                <a:solidFill>
                  <a:srgbClr val="F8F7F4"/>
                </a:solidFill>
              </a:rPr>
              <a:t>기반으로
추가 언어 확장 용이</a:t>
            </a:r>
            <a:endParaRPr lang="ko-US" sz="1200">
              <a:solidFill>
                <a:srgbClr val="F8F7F4"/>
              </a:solidFill>
            </a:endParaRPr>
          </a:p>
        </p:txBody>
      </p:sp>
      <p:sp>
        <p:nvSpPr>
          <p:cNvPr id="37" name="타원 36">
            <a:extLst>
              <a:ext uri="{FF2B5EF4-FFF2-40B4-BE49-F238E27FC236}">
                <a16:creationId xmlns:a16="http://schemas.microsoft.com/office/drawing/2014/main" id="{CA232505-8FBF-0C40-BF89-C64D524E134A}"/>
              </a:ext>
            </a:extLst>
          </p:cNvPr>
          <p:cNvSpPr/>
          <p:nvPr/>
        </p:nvSpPr>
        <p:spPr>
          <a:xfrm>
            <a:off x="7874000" y="4762500"/>
            <a:ext cx="101600" cy="1016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752EECF-DC58-5745-81D9-DD7007EF0989}"/>
              </a:ext>
            </a:extLst>
          </p:cNvPr>
          <p:cNvSpPr txBox="1"/>
          <p:nvPr/>
        </p:nvSpPr>
        <p:spPr>
          <a:xfrm>
            <a:off x="8102600" y="4711700"/>
            <a:ext cx="3048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Vertical SaaS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AD1E513-53A8-F348-8A3F-012492E1FE3A}"/>
              </a:ext>
            </a:extLst>
          </p:cNvPr>
          <p:cNvSpPr txBox="1"/>
          <p:nvPr/>
        </p:nvSpPr>
        <p:spPr>
          <a:xfrm>
            <a:off x="8102600" y="4991100"/>
            <a:ext cx="304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200">
                <a:solidFill>
                  <a:srgbClr val="F8F7F4"/>
                </a:solidFill>
              </a:rPr>
              <a:t>모기지 마켓플레이스에서
인접 금융 서비스로 확장 가능</a:t>
            </a:r>
            <a:endParaRPr lang="ko-US" sz="1200">
              <a:solidFill>
                <a:srgbClr val="F8F7F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648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D950B28-528D-F44B-B0A2-A8450F9EA689}"/>
              </a:ext>
            </a:extLst>
          </p:cNvPr>
          <p:cNvSpPr txBox="1"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ROADMAP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4DA67D04-2BEC-2A4C-9D8C-3C3A38BB8959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EE90AE3-CFC9-F442-882B-6A82FEE1EFE3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000" b="1">
                <a:solidFill>
                  <a:srgbClr val="0F1729"/>
                </a:solidFill>
              </a:rPr>
              <a:t>제품 로드맵</a:t>
            </a:r>
            <a:r>
              <a:rPr lang="en-US" altLang="ko-KR" sz="2000" b="1">
                <a:solidFill>
                  <a:srgbClr val="0F1729"/>
                </a:solidFill>
              </a:rPr>
              <a:t>: </a:t>
            </a:r>
            <a:r>
              <a:rPr lang="ko-KR" altLang="en-US" sz="2000" b="1">
                <a:solidFill>
                  <a:srgbClr val="0F1729"/>
                </a:solidFill>
              </a:rPr>
              <a:t>현재 구현과 분리된 미래 계획</a:t>
            </a:r>
            <a:endParaRPr lang="ko-US" sz="2000" b="1">
              <a:solidFill>
                <a:srgbClr val="0F1729"/>
              </a:solidFill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33C3219-D7E1-E844-B3E5-E43F6A04F529}"/>
              </a:ext>
            </a:extLst>
          </p:cNvPr>
          <p:cNvSpPr/>
          <p:nvPr/>
        </p:nvSpPr>
        <p:spPr>
          <a:xfrm>
            <a:off x="762000" y="1460500"/>
            <a:ext cx="10668000" cy="381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D6B0B845-2C61-934D-9038-136E5C0133A1}"/>
              </a:ext>
            </a:extLst>
          </p:cNvPr>
          <p:cNvSpPr/>
          <p:nvPr/>
        </p:nvSpPr>
        <p:spPr>
          <a:xfrm>
            <a:off x="2374900" y="1384300"/>
            <a:ext cx="203200" cy="203200"/>
          </a:xfrm>
          <a:prstGeom prst="ellipse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0E7F0449-8B66-F54F-82C9-6B74E6D93296}"/>
              </a:ext>
            </a:extLst>
          </p:cNvPr>
          <p:cNvSpPr/>
          <p:nvPr/>
        </p:nvSpPr>
        <p:spPr>
          <a:xfrm>
            <a:off x="762000" y="1651000"/>
            <a:ext cx="3429000" cy="3937000"/>
          </a:xfrm>
          <a:prstGeom prst="roundRect">
            <a:avLst/>
          </a:prstGeom>
          <a:solidFill>
            <a:srgbClr val="0F172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E0F1331-0B05-CF4C-B78A-65BD7D8019E7}"/>
              </a:ext>
            </a:extLst>
          </p:cNvPr>
          <p:cNvSpPr/>
          <p:nvPr/>
        </p:nvSpPr>
        <p:spPr>
          <a:xfrm>
            <a:off x="952500" y="1841500"/>
            <a:ext cx="889000" cy="330200"/>
          </a:xfrm>
          <a:prstGeom prst="round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NOW</a:t>
            </a:r>
            <a:endParaRPr lang="ko-US" sz="1200" b="1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69970F-8F41-9C43-A7B8-5C58B7AB6CB2}"/>
              </a:ext>
            </a:extLst>
          </p:cNvPr>
          <p:cNvSpPr txBox="1"/>
          <p:nvPr/>
        </p:nvSpPr>
        <p:spPr>
          <a:xfrm>
            <a:off x="1968500" y="18796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D4A853"/>
                </a:solidFill>
              </a:rPr>
              <a:t>현재 구현</a:t>
            </a:r>
            <a:endParaRPr lang="ko-US" sz="1400">
              <a:solidFill>
                <a:srgbClr val="D4A853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17F008A-74BB-CB40-87AF-249FA27D040C}"/>
              </a:ext>
            </a:extLst>
          </p:cNvPr>
          <p:cNvSpPr/>
          <p:nvPr/>
        </p:nvSpPr>
        <p:spPr>
          <a:xfrm>
            <a:off x="952500" y="2311400"/>
            <a:ext cx="3048000" cy="12700"/>
          </a:xfrm>
          <a:prstGeom prst="rect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EFAC3E-2625-8745-8107-36B40DCD1114}"/>
              </a:ext>
            </a:extLst>
          </p:cNvPr>
          <p:cNvSpPr txBox="1"/>
          <p:nvPr/>
        </p:nvSpPr>
        <p:spPr>
          <a:xfrm>
            <a:off x="952500" y="2438400"/>
            <a:ext cx="3048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F8F7F4"/>
                </a:solidFill>
              </a:rPr>
              <a:t>이중언어 마켓플레이스 </a:t>
            </a:r>
            <a:r>
              <a:rPr lang="en-US" sz="1400">
                <a:solidFill>
                  <a:srgbClr val="F8F7F4"/>
                </a:solidFill>
              </a:rPr>
              <a:t>MVP
</a:t>
            </a:r>
            <a:r>
              <a:rPr lang="ko-KR" altLang="en-US" sz="1400">
                <a:solidFill>
                  <a:srgbClr val="F8F7F4"/>
                </a:solidFill>
              </a:rPr>
              <a:t>구조화된 요청 시스템
모기지 전문가 검증 체계
</a:t>
            </a:r>
            <a:r>
              <a:rPr lang="en-US" sz="1400">
                <a:solidFill>
                  <a:srgbClr val="F8F7F4"/>
                </a:solidFill>
              </a:rPr>
              <a:t>Stripe </a:t>
            </a:r>
            <a:r>
              <a:rPr lang="ko-KR" altLang="en-US" sz="1400">
                <a:solidFill>
                  <a:srgbClr val="F8F7F4"/>
                </a:solidFill>
              </a:rPr>
              <a:t>구독 결제
실시간 메시징
관리자 운영 콘솔
정책 자동화</a:t>
            </a:r>
            <a:endParaRPr lang="ko-US" sz="1400">
              <a:solidFill>
                <a:srgbClr val="F8F7F4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BDCB541E-7A49-2F44-B0D4-D87E094CC779}"/>
              </a:ext>
            </a:extLst>
          </p:cNvPr>
          <p:cNvSpPr/>
          <p:nvPr/>
        </p:nvSpPr>
        <p:spPr>
          <a:xfrm>
            <a:off x="5994400" y="1384300"/>
            <a:ext cx="203200" cy="203200"/>
          </a:xfrm>
          <a:prstGeom prst="ellipse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A4F3849A-41EC-C144-89F8-385219D8D8B0}"/>
              </a:ext>
            </a:extLst>
          </p:cNvPr>
          <p:cNvSpPr/>
          <p:nvPr/>
        </p:nvSpPr>
        <p:spPr>
          <a:xfrm>
            <a:off x="4381500" y="1651000"/>
            <a:ext cx="3429000" cy="393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8F9AA559-B729-9943-B7A5-D77C08AE264B}"/>
              </a:ext>
            </a:extLst>
          </p:cNvPr>
          <p:cNvSpPr/>
          <p:nvPr/>
        </p:nvSpPr>
        <p:spPr>
          <a:xfrm>
            <a:off x="4572000" y="1841500"/>
            <a:ext cx="889000" cy="330200"/>
          </a:xfrm>
          <a:prstGeom prst="roundRect">
            <a:avLst/>
          </a:prstGeom>
          <a:solidFill>
            <a:srgbClr val="2E3D6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NEXT</a:t>
            </a:r>
            <a:endParaRPr lang="ko-US" sz="1200" b="1">
              <a:solidFill>
                <a:srgbClr val="FFFFFF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7DE0166-832C-5045-8419-48495BB177E8}"/>
              </a:ext>
            </a:extLst>
          </p:cNvPr>
          <p:cNvSpPr txBox="1"/>
          <p:nvPr/>
        </p:nvSpPr>
        <p:spPr>
          <a:xfrm>
            <a:off x="5588000" y="18796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576285"/>
                </a:solidFill>
              </a:rPr>
              <a:t>다음 마일스톤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E5E26557-16E1-D34A-BE61-B3F309E6BEE3}"/>
              </a:ext>
            </a:extLst>
          </p:cNvPr>
          <p:cNvSpPr/>
          <p:nvPr/>
        </p:nvSpPr>
        <p:spPr>
          <a:xfrm>
            <a:off x="4572000" y="2311400"/>
            <a:ext cx="3048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C73477-5892-F24A-9FF6-703E0C3CA264}"/>
              </a:ext>
            </a:extLst>
          </p:cNvPr>
          <p:cNvSpPr txBox="1"/>
          <p:nvPr/>
        </p:nvSpPr>
        <p:spPr>
          <a:xfrm>
            <a:off x="4572000" y="2438400"/>
            <a:ext cx="3048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알림 시스템 강화
모기지 전문가 분석 대시보드
매칭</a:t>
            </a:r>
            <a:r>
              <a:rPr lang="en-US" altLang="ko-KR" sz="1400">
                <a:solidFill>
                  <a:srgbClr val="1F2D52"/>
                </a:solidFill>
              </a:rPr>
              <a:t>/</a:t>
            </a:r>
            <a:r>
              <a:rPr lang="ko-KR" altLang="en-US" sz="1400">
                <a:solidFill>
                  <a:srgbClr val="1F2D52"/>
                </a:solidFill>
              </a:rPr>
              <a:t>랭킹 고도화
문서 교환 기능
연간 결제 플랜
크레딧 팩 구매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38F5868B-6DE4-E64D-9D98-B2FE5B93B8B7}"/>
              </a:ext>
            </a:extLst>
          </p:cNvPr>
          <p:cNvSpPr/>
          <p:nvPr/>
        </p:nvSpPr>
        <p:spPr>
          <a:xfrm>
            <a:off x="9613900" y="1384300"/>
            <a:ext cx="203200" cy="203200"/>
          </a:xfrm>
          <a:prstGeom prst="ellipse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9" name="모서리가 둥근 직사각형 18">
            <a:extLst>
              <a:ext uri="{FF2B5EF4-FFF2-40B4-BE49-F238E27FC236}">
                <a16:creationId xmlns:a16="http://schemas.microsoft.com/office/drawing/2014/main" id="{5E4C1643-97D7-F44A-BD40-52A2A5B97BC7}"/>
              </a:ext>
            </a:extLst>
          </p:cNvPr>
          <p:cNvSpPr/>
          <p:nvPr/>
        </p:nvSpPr>
        <p:spPr>
          <a:xfrm>
            <a:off x="8001000" y="1651000"/>
            <a:ext cx="3429000" cy="3937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0" name="모서리가 둥근 직사각형 19">
            <a:extLst>
              <a:ext uri="{FF2B5EF4-FFF2-40B4-BE49-F238E27FC236}">
                <a16:creationId xmlns:a16="http://schemas.microsoft.com/office/drawing/2014/main" id="{2A187403-F5AA-B44D-BA05-D459E07D5473}"/>
              </a:ext>
            </a:extLst>
          </p:cNvPr>
          <p:cNvSpPr/>
          <p:nvPr/>
        </p:nvSpPr>
        <p:spPr>
          <a:xfrm>
            <a:off x="8191500" y="1841500"/>
            <a:ext cx="889000" cy="330200"/>
          </a:xfrm>
          <a:prstGeom prst="roundRect">
            <a:avLst/>
          </a:prstGeom>
          <a:solidFill>
            <a:srgbClr val="57628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FFFFFF"/>
                </a:solidFill>
              </a:rPr>
              <a:t>LATER</a:t>
            </a:r>
            <a:endParaRPr lang="ko-US" sz="1200" b="1">
              <a:solidFill>
                <a:srgbClr val="FFFFFF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94DFAE8-99F9-D64E-85A6-26BC9619FE5A}"/>
              </a:ext>
            </a:extLst>
          </p:cNvPr>
          <p:cNvSpPr txBox="1"/>
          <p:nvPr/>
        </p:nvSpPr>
        <p:spPr>
          <a:xfrm>
            <a:off x="9207500" y="1879600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576285"/>
                </a:solidFill>
              </a:rPr>
              <a:t>장기 비전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10AB3EB1-3866-354D-A092-E841C941B3B2}"/>
              </a:ext>
            </a:extLst>
          </p:cNvPr>
          <p:cNvSpPr/>
          <p:nvPr/>
        </p:nvSpPr>
        <p:spPr>
          <a:xfrm>
            <a:off x="8191500" y="2311400"/>
            <a:ext cx="3048000" cy="12700"/>
          </a:xfrm>
          <a:prstGeom prst="rect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1963739-ABC7-F449-9C0D-14247843CF3F}"/>
              </a:ext>
            </a:extLst>
          </p:cNvPr>
          <p:cNvSpPr txBox="1"/>
          <p:nvPr/>
        </p:nvSpPr>
        <p:spPr>
          <a:xfrm>
            <a:off x="8191500" y="2438400"/>
            <a:ext cx="3048000" cy="292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>
                <a:solidFill>
                  <a:srgbClr val="1F2D52"/>
                </a:solidFill>
              </a:rPr>
              <a:t>파트너십 통합
다국어 확장 </a:t>
            </a:r>
            <a:r>
              <a:rPr lang="en-US" altLang="ko-KR" sz="1400">
                <a:solidFill>
                  <a:srgbClr val="1F2D52"/>
                </a:solidFill>
              </a:rPr>
              <a:t>(</a:t>
            </a:r>
            <a:r>
              <a:rPr lang="en-US" sz="1400">
                <a:solidFill>
                  <a:srgbClr val="1F2D52"/>
                </a:solidFill>
              </a:rPr>
              <a:t>KO/EN </a:t>
            </a:r>
            <a:r>
              <a:rPr lang="ko-KR" altLang="en-US" sz="1400">
                <a:solidFill>
                  <a:srgbClr val="1F2D52"/>
                </a:solidFill>
              </a:rPr>
              <a:t>이상</a:t>
            </a:r>
            <a:r>
              <a:rPr lang="en-US" altLang="ko-KR" sz="1400">
                <a:solidFill>
                  <a:srgbClr val="1F2D52"/>
                </a:solidFill>
              </a:rPr>
              <a:t>)
</a:t>
            </a:r>
            <a:r>
              <a:rPr lang="en-US" sz="1400">
                <a:solidFill>
                  <a:srgbClr val="1F2D52"/>
                </a:solidFill>
              </a:rPr>
              <a:t>Vertical SaaS </a:t>
            </a:r>
            <a:r>
              <a:rPr lang="ko-KR" altLang="en-US" sz="1400">
                <a:solidFill>
                  <a:srgbClr val="1F2D52"/>
                </a:solidFill>
              </a:rPr>
              <a:t>기능 확대
데이터 기반 인사이트
인접 금융 서비스 연결</a:t>
            </a:r>
            <a:endParaRPr lang="ko-US" sz="1400">
              <a:solidFill>
                <a:srgbClr val="1F2D52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4BCE675-9BD6-9049-8864-EEFAF1FF2316}"/>
              </a:ext>
            </a:extLst>
          </p:cNvPr>
          <p:cNvSpPr txBox="1"/>
          <p:nvPr/>
        </p:nvSpPr>
        <p:spPr>
          <a:xfrm>
            <a:off x="762000" y="59055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i="1">
                <a:solidFill>
                  <a:srgbClr val="A8812E"/>
                </a:solidFill>
              </a:rPr>
              <a:t>NEXT</a:t>
            </a:r>
            <a:r>
              <a:rPr lang="ko-KR" altLang="en-US" sz="1100" i="1">
                <a:solidFill>
                  <a:srgbClr val="A8812E"/>
                </a:solidFill>
              </a:rPr>
              <a:t>와 </a:t>
            </a:r>
            <a:r>
              <a:rPr lang="en-US" sz="1100" i="1">
                <a:solidFill>
                  <a:srgbClr val="A8812E"/>
                </a:solidFill>
              </a:rPr>
              <a:t>LATER </a:t>
            </a:r>
            <a:r>
              <a:rPr lang="ko-KR" altLang="en-US" sz="1100" i="1">
                <a:solidFill>
                  <a:srgbClr val="A8812E"/>
                </a:solidFill>
              </a:rPr>
              <a:t>항목은 현재 코드에 구현되지 않은 계획입니다</a:t>
            </a:r>
            <a:endParaRPr lang="ko-US" sz="1100" i="1">
              <a:solidFill>
                <a:srgbClr val="A881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35444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D1CF4A-AFC5-0B4A-A077-7D5FA34EF0A5}"/>
              </a:ext>
            </a:extLst>
          </p:cNvPr>
          <p:cNvSpPr txBox="1"/>
          <p:nvPr/>
        </p:nvSpPr>
        <p:spPr>
          <a:xfrm>
            <a:off x="762000" y="317500"/>
            <a:ext cx="254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D4A853"/>
                </a:solidFill>
              </a:rPr>
              <a:t>TEAM</a:t>
            </a:r>
            <a:endParaRPr lang="ko-US" sz="1100" b="1">
              <a:solidFill>
                <a:srgbClr val="D4A853"/>
              </a:solidFill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90E7BFC-85DA-1E47-8F50-7660BA277262}"/>
              </a:ext>
            </a:extLst>
          </p:cNvPr>
          <p:cNvSpPr/>
          <p:nvPr/>
        </p:nvSpPr>
        <p:spPr>
          <a:xfrm>
            <a:off x="762000" y="647700"/>
            <a:ext cx="762000" cy="25400"/>
          </a:xfrm>
          <a:prstGeom prst="rect">
            <a:avLst/>
          </a:prstGeom>
          <a:solidFill>
            <a:srgbClr val="D4A85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5668D-91C8-6C41-8CDB-23DF8DABAED0}"/>
              </a:ext>
            </a:extLst>
          </p:cNvPr>
          <p:cNvSpPr txBox="1"/>
          <p:nvPr/>
        </p:nvSpPr>
        <p:spPr>
          <a:xfrm>
            <a:off x="762000" y="7366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2200" b="1">
                <a:solidFill>
                  <a:srgbClr val="0F1729"/>
                </a:solidFill>
              </a:rPr>
              <a:t>실행에 집중하는 팀</a:t>
            </a:r>
            <a:endParaRPr lang="ko-US" sz="2200" b="1">
              <a:solidFill>
                <a:srgbClr val="0F1729"/>
              </a:solidFill>
            </a:endParaRPr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3CFF84E-2634-774F-8A59-7368875555C0}"/>
              </a:ext>
            </a:extLst>
          </p:cNvPr>
          <p:cNvSpPr/>
          <p:nvPr/>
        </p:nvSpPr>
        <p:spPr>
          <a:xfrm>
            <a:off x="952500" y="1460500"/>
            <a:ext cx="3302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78357CC-8F00-2148-8ED0-7E68BDF30C65}"/>
              </a:ext>
            </a:extLst>
          </p:cNvPr>
          <p:cNvSpPr/>
          <p:nvPr/>
        </p:nvSpPr>
        <p:spPr>
          <a:xfrm>
            <a:off x="2159000" y="1714500"/>
            <a:ext cx="889000" cy="889000"/>
          </a:xfrm>
          <a:prstGeom prst="ellipse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900B18-5968-2946-A12A-74C9B20790C0}"/>
              </a:ext>
            </a:extLst>
          </p:cNvPr>
          <p:cNvSpPr txBox="1"/>
          <p:nvPr/>
        </p:nvSpPr>
        <p:spPr>
          <a:xfrm>
            <a:off x="1143000" y="2794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Founder / CEO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6F30C-95CB-C744-9122-6E638F47B3F0}"/>
              </a:ext>
            </a:extLst>
          </p:cNvPr>
          <p:cNvSpPr txBox="1"/>
          <p:nvPr/>
        </p:nvSpPr>
        <p:spPr>
          <a:xfrm>
            <a:off x="1143000" y="3175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[</a:t>
            </a:r>
            <a:r>
              <a:rPr lang="ko-KR" altLang="en-US" sz="1400">
                <a:solidFill>
                  <a:srgbClr val="576285"/>
                </a:solidFill>
              </a:rPr>
              <a:t>이름을 입력하세요</a:t>
            </a:r>
            <a:r>
              <a:rPr lang="en-US" altLang="ko-KR" sz="1400">
                <a:solidFill>
                  <a:srgbClr val="576285"/>
                </a:solidFill>
              </a:rPr>
              <a:t>]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0CAFB44-3E92-6F4F-A712-BA9C1C4F6229}"/>
              </a:ext>
            </a:extLst>
          </p:cNvPr>
          <p:cNvSpPr txBox="1"/>
          <p:nvPr/>
        </p:nvSpPr>
        <p:spPr>
          <a:xfrm>
            <a:off x="1143000" y="35941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i="1">
                <a:solidFill>
                  <a:srgbClr val="576285"/>
                </a:solidFill>
              </a:rPr>
              <a:t>[</a:t>
            </a:r>
            <a:r>
              <a:rPr lang="ko-KR" altLang="en-US" sz="1200" i="1">
                <a:solidFill>
                  <a:srgbClr val="576285"/>
                </a:solidFill>
              </a:rPr>
              <a:t>경력 및 전문 분야 요약을
여기에 입력하세요</a:t>
            </a:r>
            <a:r>
              <a:rPr lang="en-US" altLang="ko-KR" sz="1200" i="1">
                <a:solidFill>
                  <a:srgbClr val="576285"/>
                </a:solidFill>
              </a:rPr>
              <a:t>]</a:t>
            </a:r>
            <a:endParaRPr lang="ko-US" sz="1200" i="1">
              <a:solidFill>
                <a:srgbClr val="576285"/>
              </a:solidFill>
            </a:endParaRPr>
          </a:p>
        </p:txBody>
      </p:sp>
      <p:sp>
        <p:nvSpPr>
          <p:cNvPr id="10" name="모서리가 둥근 직사각형 9">
            <a:extLst>
              <a:ext uri="{FF2B5EF4-FFF2-40B4-BE49-F238E27FC236}">
                <a16:creationId xmlns:a16="http://schemas.microsoft.com/office/drawing/2014/main" id="{8045E554-1703-0548-A1A7-E630DF965FE9}"/>
              </a:ext>
            </a:extLst>
          </p:cNvPr>
          <p:cNvSpPr/>
          <p:nvPr/>
        </p:nvSpPr>
        <p:spPr>
          <a:xfrm>
            <a:off x="4483100" y="1460500"/>
            <a:ext cx="3302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85615632-3596-4B42-9423-08430B409DB4}"/>
              </a:ext>
            </a:extLst>
          </p:cNvPr>
          <p:cNvSpPr/>
          <p:nvPr/>
        </p:nvSpPr>
        <p:spPr>
          <a:xfrm>
            <a:off x="5689600" y="1714500"/>
            <a:ext cx="889000" cy="889000"/>
          </a:xfrm>
          <a:prstGeom prst="ellipse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87A6A4-CED5-824E-BBF4-E817F0161B89}"/>
              </a:ext>
            </a:extLst>
          </p:cNvPr>
          <p:cNvSpPr txBox="1"/>
          <p:nvPr/>
        </p:nvSpPr>
        <p:spPr>
          <a:xfrm>
            <a:off x="4673600" y="2794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b="1">
                <a:solidFill>
                  <a:srgbClr val="D4A853"/>
                </a:solidFill>
              </a:rPr>
              <a:t>Co-Founder / CTO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30B75B-8DDA-1E41-BE57-06EBB192C626}"/>
              </a:ext>
            </a:extLst>
          </p:cNvPr>
          <p:cNvSpPr txBox="1"/>
          <p:nvPr/>
        </p:nvSpPr>
        <p:spPr>
          <a:xfrm>
            <a:off x="4673600" y="3175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[</a:t>
            </a:r>
            <a:r>
              <a:rPr lang="ko-KR" altLang="en-US" sz="1400">
                <a:solidFill>
                  <a:srgbClr val="576285"/>
                </a:solidFill>
              </a:rPr>
              <a:t>이름을 입력하세요</a:t>
            </a:r>
            <a:r>
              <a:rPr lang="en-US" altLang="ko-KR" sz="1400">
                <a:solidFill>
                  <a:srgbClr val="576285"/>
                </a:solidFill>
              </a:rPr>
              <a:t>]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3B101CD-7EBA-D449-B10D-26B3FCAA8A1B}"/>
              </a:ext>
            </a:extLst>
          </p:cNvPr>
          <p:cNvSpPr txBox="1"/>
          <p:nvPr/>
        </p:nvSpPr>
        <p:spPr>
          <a:xfrm>
            <a:off x="4673600" y="35941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i="1">
                <a:solidFill>
                  <a:srgbClr val="576285"/>
                </a:solidFill>
              </a:rPr>
              <a:t>[</a:t>
            </a:r>
            <a:r>
              <a:rPr lang="ko-KR" altLang="en-US" sz="1200" i="1">
                <a:solidFill>
                  <a:srgbClr val="576285"/>
                </a:solidFill>
              </a:rPr>
              <a:t>경력 및 전문 분야 요약을
여기에 입력하세요</a:t>
            </a:r>
            <a:r>
              <a:rPr lang="en-US" altLang="ko-KR" sz="1200" i="1">
                <a:solidFill>
                  <a:srgbClr val="576285"/>
                </a:solidFill>
              </a:rPr>
              <a:t>]</a:t>
            </a:r>
            <a:endParaRPr lang="ko-US" sz="1200" i="1">
              <a:solidFill>
                <a:srgbClr val="576285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69AE523E-7C2B-5749-A88D-030D621A1635}"/>
              </a:ext>
            </a:extLst>
          </p:cNvPr>
          <p:cNvSpPr/>
          <p:nvPr/>
        </p:nvSpPr>
        <p:spPr>
          <a:xfrm>
            <a:off x="8013700" y="1460500"/>
            <a:ext cx="3302000" cy="33020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0B6B5D4E-8791-8943-8212-0EA4493AD613}"/>
              </a:ext>
            </a:extLst>
          </p:cNvPr>
          <p:cNvSpPr/>
          <p:nvPr/>
        </p:nvSpPr>
        <p:spPr>
          <a:xfrm>
            <a:off x="9220200" y="1714500"/>
            <a:ext cx="889000" cy="889000"/>
          </a:xfrm>
          <a:prstGeom prst="ellipse">
            <a:avLst/>
          </a:prstGeom>
          <a:solidFill>
            <a:srgbClr val="E5E2D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ko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4AE1DC-71EE-7144-8C1E-2D9D8E8F18F2}"/>
              </a:ext>
            </a:extLst>
          </p:cNvPr>
          <p:cNvSpPr txBox="1"/>
          <p:nvPr/>
        </p:nvSpPr>
        <p:spPr>
          <a:xfrm>
            <a:off x="8204200" y="2794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ko-KR" altLang="en-US" sz="1400" b="1">
                <a:solidFill>
                  <a:srgbClr val="D4A853"/>
                </a:solidFill>
              </a:rPr>
              <a:t>팀원 </a:t>
            </a:r>
            <a:r>
              <a:rPr lang="en-US" altLang="ko-KR" sz="1400" b="1">
                <a:solidFill>
                  <a:srgbClr val="D4A853"/>
                </a:solidFill>
              </a:rPr>
              <a:t>/ </a:t>
            </a:r>
            <a:r>
              <a:rPr lang="en-US" sz="1400" b="1">
                <a:solidFill>
                  <a:srgbClr val="D4A853"/>
                </a:solidFill>
              </a:rPr>
              <a:t>Advisor</a:t>
            </a:r>
            <a:endParaRPr lang="ko-US" sz="1400" b="1">
              <a:solidFill>
                <a:srgbClr val="D4A853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410CF2-1D88-8A49-A80B-2586B5F11F90}"/>
              </a:ext>
            </a:extLst>
          </p:cNvPr>
          <p:cNvSpPr txBox="1"/>
          <p:nvPr/>
        </p:nvSpPr>
        <p:spPr>
          <a:xfrm>
            <a:off x="8204200" y="3175000"/>
            <a:ext cx="292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400">
                <a:solidFill>
                  <a:srgbClr val="576285"/>
                </a:solidFill>
              </a:rPr>
              <a:t>[</a:t>
            </a:r>
            <a:r>
              <a:rPr lang="ko-KR" altLang="en-US" sz="1400">
                <a:solidFill>
                  <a:srgbClr val="576285"/>
                </a:solidFill>
              </a:rPr>
              <a:t>이름을 입력하세요</a:t>
            </a:r>
            <a:r>
              <a:rPr lang="en-US" altLang="ko-KR" sz="1400">
                <a:solidFill>
                  <a:srgbClr val="576285"/>
                </a:solidFill>
              </a:rPr>
              <a:t>]</a:t>
            </a:r>
            <a:endParaRPr lang="ko-US" sz="1400">
              <a:solidFill>
                <a:srgbClr val="576285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C5F9FE6-F3B9-2549-A0EC-37702BE5B012}"/>
              </a:ext>
            </a:extLst>
          </p:cNvPr>
          <p:cNvSpPr txBox="1"/>
          <p:nvPr/>
        </p:nvSpPr>
        <p:spPr>
          <a:xfrm>
            <a:off x="8204200" y="3594100"/>
            <a:ext cx="2921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altLang="ko-KR" sz="1200" i="1">
                <a:solidFill>
                  <a:srgbClr val="576285"/>
                </a:solidFill>
              </a:rPr>
              <a:t>[</a:t>
            </a:r>
            <a:r>
              <a:rPr lang="ko-KR" altLang="en-US" sz="1200" i="1">
                <a:solidFill>
                  <a:srgbClr val="576285"/>
                </a:solidFill>
              </a:rPr>
              <a:t>경력 및 전문 분야 요약을
여기에 입력하세요</a:t>
            </a:r>
            <a:r>
              <a:rPr lang="en-US" altLang="ko-KR" sz="1200" i="1">
                <a:solidFill>
                  <a:srgbClr val="576285"/>
                </a:solidFill>
              </a:rPr>
              <a:t>]</a:t>
            </a:r>
            <a:endParaRPr lang="ko-US" sz="1200" i="1">
              <a:solidFill>
                <a:srgbClr val="576285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A3D4069-F2CF-F64A-AEE5-F7A0F1DEA20F}"/>
              </a:ext>
            </a:extLst>
          </p:cNvPr>
          <p:cNvSpPr txBox="1"/>
          <p:nvPr/>
        </p:nvSpPr>
        <p:spPr>
          <a:xfrm>
            <a:off x="762000" y="5080000"/>
            <a:ext cx="10668000" cy="444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400" i="1">
                <a:solidFill>
                  <a:srgbClr val="576285"/>
                </a:solidFill>
              </a:rPr>
              <a:t>Small, execution-focused founding team — </a:t>
            </a:r>
            <a:r>
              <a:rPr lang="ko-KR" altLang="en-US" sz="1400" i="1">
                <a:solidFill>
                  <a:srgbClr val="576285"/>
                </a:solidFill>
              </a:rPr>
              <a:t>제품 설계부터 기술 구현</a:t>
            </a:r>
            <a:r>
              <a:rPr lang="en-US" altLang="ko-KR" sz="1400" i="1">
                <a:solidFill>
                  <a:srgbClr val="576285"/>
                </a:solidFill>
              </a:rPr>
              <a:t>, </a:t>
            </a:r>
            <a:r>
              <a:rPr lang="ko-KR" altLang="en-US" sz="1400" i="1">
                <a:solidFill>
                  <a:srgbClr val="576285"/>
                </a:solidFill>
              </a:rPr>
              <a:t>운영까지 직접 수행하는 소규모 실행 조직</a:t>
            </a:r>
            <a:endParaRPr lang="ko-US" sz="1400" i="1">
              <a:solidFill>
                <a:srgbClr val="5762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782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1373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 [1776070134686]">
  <a:themeElements>
    <a:clrScheme name="mortly">
      <a:dk1>
        <a:srgbClr val="0F1729"/>
      </a:dk1>
      <a:lt1>
        <a:srgbClr val="F8F7F4"/>
      </a:lt1>
      <a:dk2>
        <a:srgbClr val="1F2D52"/>
      </a:dk2>
      <a:lt2>
        <a:srgbClr val="E5E2DC"/>
      </a:lt2>
      <a:accent1>
        <a:srgbClr val="D4A853"/>
      </a:accent1>
      <a:accent2>
        <a:srgbClr val="A8812E"/>
      </a:accent2>
      <a:accent3>
        <a:srgbClr val="2E3D68"/>
      </a:accent3>
      <a:accent4>
        <a:srgbClr val="E6C96E"/>
      </a:accent4>
      <a:accent5>
        <a:srgbClr val="576285"/>
      </a:accent5>
      <a:accent6>
        <a:srgbClr val="0F1729"/>
      </a:accent6>
      <a:hlink>
        <a:srgbClr val="467886"/>
      </a:hlink>
      <a:folHlink>
        <a:srgbClr val="96607D"/>
      </a:folHlink>
    </a:clrScheme>
    <a:fontScheme name="mortly">
      <a:majorFont>
        <a:latin typeface="Outfi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0B51095-08C6-6942-BC97-C063771A46E1}">
  <we:reference id="wa200010001" version="1.0.0.1" store="ko-KR" storeType="OMEX"/>
  <we:alternateReferences>
    <we:reference id="WA200010001" version="1.0.0.1" store="WA200010001" storeType="OMEX"/>
  </we:alternateReferences>
  <we:properties>
    <we:property name="claude.fileId" value="&quot;5babe300-9f51-4d22-b442-174242429cab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1568</Words>
  <Application>Microsoft Macintosh PowerPoint</Application>
  <PresentationFormat>와이드스크린</PresentationFormat>
  <Paragraphs>288</Paragraphs>
  <Slides>17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4" baseType="lpstr">
      <vt:lpstr>Outfit</vt:lpstr>
      <vt:lpstr>Pretendard</vt:lpstr>
      <vt:lpstr>Aptos</vt:lpstr>
      <vt:lpstr>Aptos Display</vt:lpstr>
      <vt:lpstr>Arial</vt:lpstr>
      <vt:lpstr>Office 테마</vt:lpstr>
      <vt:lpstr>Office 테마 [1776070134686]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Cho, Daniel</dc:creator>
  <cp:lastModifiedBy>Cho, Daniel</cp:lastModifiedBy>
  <cp:revision>4</cp:revision>
  <dcterms:created xsi:type="dcterms:W3CDTF">2026-04-13T08:47:17Z</dcterms:created>
  <dcterms:modified xsi:type="dcterms:W3CDTF">2026-04-13T09:13:04Z</dcterms:modified>
</cp:coreProperties>
</file>